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72" r:id="rId7"/>
    <p:sldId id="265" r:id="rId8"/>
    <p:sldId id="267" r:id="rId9"/>
    <p:sldId id="266" r:id="rId10"/>
    <p:sldId id="268" r:id="rId11"/>
    <p:sldId id="269"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autoAdjust="0"/>
    <p:restoredTop sz="94660"/>
  </p:normalViewPr>
  <p:slideViewPr>
    <p:cSldViewPr snapToGrid="0">
      <p:cViewPr>
        <p:scale>
          <a:sx n="62" d="100"/>
          <a:sy n="62" d="100"/>
        </p:scale>
        <p:origin x="7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2A56C6-4D98-4603-850D-4A110E77CEF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0168B5E-E9FB-4D42-8D76-DEFBAD9443D6}">
      <dgm:prSet/>
      <dgm:spPr/>
      <dgm:t>
        <a:bodyPr/>
        <a:lstStyle/>
        <a:p>
          <a:r>
            <a:rPr lang="en-US" dirty="0">
              <a:latin typeface="Times New Roman" panose="02020603050405020304" pitchFamily="18" charset="0"/>
              <a:cs typeface="Times New Roman" panose="02020603050405020304" pitchFamily="18" charset="0"/>
            </a:rPr>
            <a:t>Patients manage health data across disconnected systems (paper prescriptions, physical folders, scattered apps).</a:t>
          </a:r>
        </a:p>
      </dgm:t>
    </dgm:pt>
    <dgm:pt modelId="{AF44F14F-3D92-4452-B6C6-281901641512}" type="parTrans" cxnId="{930DCDE1-C936-491D-B3CF-DD80CC3D0B8D}">
      <dgm:prSet/>
      <dgm:spPr/>
      <dgm:t>
        <a:bodyPr/>
        <a:lstStyle/>
        <a:p>
          <a:endParaRPr lang="en-US"/>
        </a:p>
      </dgm:t>
    </dgm:pt>
    <dgm:pt modelId="{6DA70D04-A6CA-4E4A-8A61-F14BDD873E77}" type="sibTrans" cxnId="{930DCDE1-C936-491D-B3CF-DD80CC3D0B8D}">
      <dgm:prSet/>
      <dgm:spPr/>
      <dgm:t>
        <a:bodyPr/>
        <a:lstStyle/>
        <a:p>
          <a:endParaRPr lang="en-US"/>
        </a:p>
      </dgm:t>
    </dgm:pt>
    <dgm:pt modelId="{CE8129EC-A891-41CF-8660-CC59F86719EF}">
      <dgm:prSet/>
      <dgm:spPr/>
      <dgm:t>
        <a:bodyPr/>
        <a:lstStyle/>
        <a:p>
          <a:r>
            <a:rPr lang="en-US" dirty="0">
              <a:latin typeface="Times New Roman" panose="02020603050405020304" pitchFamily="18" charset="0"/>
              <a:cs typeface="Times New Roman" panose="02020603050405020304" pitchFamily="18" charset="0"/>
            </a:rPr>
            <a:t>This leads to poor medication adherence and accidental drug interactions.</a:t>
          </a:r>
        </a:p>
      </dgm:t>
    </dgm:pt>
    <dgm:pt modelId="{BFF2C9B8-6BAB-44C2-B7FB-082A16F0AD93}" type="parTrans" cxnId="{834FFF1E-5DE7-49AE-AA17-1A6C4E83D696}">
      <dgm:prSet/>
      <dgm:spPr/>
      <dgm:t>
        <a:bodyPr/>
        <a:lstStyle/>
        <a:p>
          <a:endParaRPr lang="en-US"/>
        </a:p>
      </dgm:t>
    </dgm:pt>
    <dgm:pt modelId="{B61B78FA-5C21-4883-87F4-D96C5D32E5CF}" type="sibTrans" cxnId="{834FFF1E-5DE7-49AE-AA17-1A6C4E83D696}">
      <dgm:prSet/>
      <dgm:spPr/>
      <dgm:t>
        <a:bodyPr/>
        <a:lstStyle/>
        <a:p>
          <a:endParaRPr lang="en-US"/>
        </a:p>
      </dgm:t>
    </dgm:pt>
    <dgm:pt modelId="{3A5E01B4-86FA-497D-92C2-6A1D93DFBDFD}">
      <dgm:prSet/>
      <dgm:spPr/>
      <dgm:t>
        <a:bodyPr/>
        <a:lstStyle/>
        <a:p>
          <a:r>
            <a:rPr lang="en-US" dirty="0">
              <a:latin typeface="Times New Roman" panose="02020603050405020304" pitchFamily="18" charset="0"/>
              <a:cs typeface="Times New Roman" panose="02020603050405020304" pitchFamily="18" charset="0"/>
            </a:rPr>
            <a:t>In medical emergencies, critical data (blood type, allergies, active meds) is rarely accessible instantly.</a:t>
          </a:r>
        </a:p>
      </dgm:t>
    </dgm:pt>
    <dgm:pt modelId="{C30A365D-7DF1-415C-8A71-2D5A2D0498F5}" type="parTrans" cxnId="{A0B6921F-DBDF-40CB-8C7B-B52446D7F8B6}">
      <dgm:prSet/>
      <dgm:spPr/>
      <dgm:t>
        <a:bodyPr/>
        <a:lstStyle/>
        <a:p>
          <a:endParaRPr lang="en-US"/>
        </a:p>
      </dgm:t>
    </dgm:pt>
    <dgm:pt modelId="{B952C9CA-74F4-497A-9647-4F496E927D8A}" type="sibTrans" cxnId="{A0B6921F-DBDF-40CB-8C7B-B52446D7F8B6}">
      <dgm:prSet/>
      <dgm:spPr/>
      <dgm:t>
        <a:bodyPr/>
        <a:lstStyle/>
        <a:p>
          <a:endParaRPr lang="en-US"/>
        </a:p>
      </dgm:t>
    </dgm:pt>
    <dgm:pt modelId="{D546242E-C7BF-4CA2-B6E4-8A83B23700D8}">
      <dgm:prSet/>
      <dgm:spPr/>
      <dgm:t>
        <a:bodyPr/>
        <a:lstStyle/>
        <a:p>
          <a:r>
            <a:rPr lang="en-US" dirty="0">
              <a:latin typeface="Times New Roman" panose="02020603050405020304" pitchFamily="18" charset="0"/>
              <a:cs typeface="Times New Roman" panose="02020603050405020304" pitchFamily="18" charset="0"/>
            </a:rPr>
            <a:t>Current Health Management systems, have become a centralized target for cybercriminals.</a:t>
          </a:r>
        </a:p>
      </dgm:t>
    </dgm:pt>
    <dgm:pt modelId="{A90C56CC-83A5-48C9-B6C6-20C7F11DDF74}" type="parTrans" cxnId="{55D396F7-C214-4A20-818A-715DC896DFA4}">
      <dgm:prSet/>
      <dgm:spPr/>
      <dgm:t>
        <a:bodyPr/>
        <a:lstStyle/>
        <a:p>
          <a:endParaRPr lang="en-US"/>
        </a:p>
      </dgm:t>
    </dgm:pt>
    <dgm:pt modelId="{8BFF28F5-BFAB-4F51-A495-A0F2F898E1AD}" type="sibTrans" cxnId="{55D396F7-C214-4A20-818A-715DC896DFA4}">
      <dgm:prSet/>
      <dgm:spPr/>
      <dgm:t>
        <a:bodyPr/>
        <a:lstStyle/>
        <a:p>
          <a:endParaRPr lang="en-US"/>
        </a:p>
      </dgm:t>
    </dgm:pt>
    <dgm:pt modelId="{62DA9AAC-687D-4B2B-AA85-C9F0067FDFA8}" type="pres">
      <dgm:prSet presAssocID="{A92A56C6-4D98-4603-850D-4A110E77CEFB}" presName="linear" presStyleCnt="0">
        <dgm:presLayoutVars>
          <dgm:animLvl val="lvl"/>
          <dgm:resizeHandles val="exact"/>
        </dgm:presLayoutVars>
      </dgm:prSet>
      <dgm:spPr/>
    </dgm:pt>
    <dgm:pt modelId="{6CBA8287-6C59-46BA-8707-E7E9A3C4EEEE}" type="pres">
      <dgm:prSet presAssocID="{10168B5E-E9FB-4D42-8D76-DEFBAD9443D6}" presName="parentText" presStyleLbl="node1" presStyleIdx="0" presStyleCnt="4">
        <dgm:presLayoutVars>
          <dgm:chMax val="0"/>
          <dgm:bulletEnabled val="1"/>
        </dgm:presLayoutVars>
      </dgm:prSet>
      <dgm:spPr/>
    </dgm:pt>
    <dgm:pt modelId="{855FCA42-3BA8-4CBE-A2EF-821FB58CCD7C}" type="pres">
      <dgm:prSet presAssocID="{6DA70D04-A6CA-4E4A-8A61-F14BDD873E77}" presName="spacer" presStyleCnt="0"/>
      <dgm:spPr/>
    </dgm:pt>
    <dgm:pt modelId="{9D69F3CB-33CF-443F-B2CF-C192DC60DED6}" type="pres">
      <dgm:prSet presAssocID="{CE8129EC-A891-41CF-8660-CC59F86719EF}" presName="parentText" presStyleLbl="node1" presStyleIdx="1" presStyleCnt="4">
        <dgm:presLayoutVars>
          <dgm:chMax val="0"/>
          <dgm:bulletEnabled val="1"/>
        </dgm:presLayoutVars>
      </dgm:prSet>
      <dgm:spPr/>
    </dgm:pt>
    <dgm:pt modelId="{E126D4FA-DA92-4B44-B02A-0CAC5E4E22A3}" type="pres">
      <dgm:prSet presAssocID="{B61B78FA-5C21-4883-87F4-D96C5D32E5CF}" presName="spacer" presStyleCnt="0"/>
      <dgm:spPr/>
    </dgm:pt>
    <dgm:pt modelId="{501177AC-875E-4BAB-9492-7232DDDA02C9}" type="pres">
      <dgm:prSet presAssocID="{3A5E01B4-86FA-497D-92C2-6A1D93DFBDFD}" presName="parentText" presStyleLbl="node1" presStyleIdx="2" presStyleCnt="4">
        <dgm:presLayoutVars>
          <dgm:chMax val="0"/>
          <dgm:bulletEnabled val="1"/>
        </dgm:presLayoutVars>
      </dgm:prSet>
      <dgm:spPr/>
    </dgm:pt>
    <dgm:pt modelId="{D8AC6A27-8887-47D8-99C9-B5153FB91B32}" type="pres">
      <dgm:prSet presAssocID="{B952C9CA-74F4-497A-9647-4F496E927D8A}" presName="spacer" presStyleCnt="0"/>
      <dgm:spPr/>
    </dgm:pt>
    <dgm:pt modelId="{857580EE-3F56-49F9-9E9D-9B2A835DB9F1}" type="pres">
      <dgm:prSet presAssocID="{D546242E-C7BF-4CA2-B6E4-8A83B23700D8}" presName="parentText" presStyleLbl="node1" presStyleIdx="3" presStyleCnt="4">
        <dgm:presLayoutVars>
          <dgm:chMax val="0"/>
          <dgm:bulletEnabled val="1"/>
        </dgm:presLayoutVars>
      </dgm:prSet>
      <dgm:spPr/>
    </dgm:pt>
  </dgm:ptLst>
  <dgm:cxnLst>
    <dgm:cxn modelId="{3A01B903-7488-42D0-886E-C2CE9DB67E52}" type="presOf" srcId="{CE8129EC-A891-41CF-8660-CC59F86719EF}" destId="{9D69F3CB-33CF-443F-B2CF-C192DC60DED6}" srcOrd="0" destOrd="0" presId="urn:microsoft.com/office/officeart/2005/8/layout/vList2"/>
    <dgm:cxn modelId="{834FFF1E-5DE7-49AE-AA17-1A6C4E83D696}" srcId="{A92A56C6-4D98-4603-850D-4A110E77CEFB}" destId="{CE8129EC-A891-41CF-8660-CC59F86719EF}" srcOrd="1" destOrd="0" parTransId="{BFF2C9B8-6BAB-44C2-B7FB-082A16F0AD93}" sibTransId="{B61B78FA-5C21-4883-87F4-D96C5D32E5CF}"/>
    <dgm:cxn modelId="{A0B6921F-DBDF-40CB-8C7B-B52446D7F8B6}" srcId="{A92A56C6-4D98-4603-850D-4A110E77CEFB}" destId="{3A5E01B4-86FA-497D-92C2-6A1D93DFBDFD}" srcOrd="2" destOrd="0" parTransId="{C30A365D-7DF1-415C-8A71-2D5A2D0498F5}" sibTransId="{B952C9CA-74F4-497A-9647-4F496E927D8A}"/>
    <dgm:cxn modelId="{FB7A4466-A927-41E4-A621-9C411F7F3A44}" type="presOf" srcId="{D546242E-C7BF-4CA2-B6E4-8A83B23700D8}" destId="{857580EE-3F56-49F9-9E9D-9B2A835DB9F1}" srcOrd="0" destOrd="0" presId="urn:microsoft.com/office/officeart/2005/8/layout/vList2"/>
    <dgm:cxn modelId="{1A89B288-84FA-4DC1-9BB0-DEC98C78B089}" type="presOf" srcId="{A92A56C6-4D98-4603-850D-4A110E77CEFB}" destId="{62DA9AAC-687D-4B2B-AA85-C9F0067FDFA8}" srcOrd="0" destOrd="0" presId="urn:microsoft.com/office/officeart/2005/8/layout/vList2"/>
    <dgm:cxn modelId="{3E4339B3-95AC-4AC9-BE2E-66A873517D2F}" type="presOf" srcId="{10168B5E-E9FB-4D42-8D76-DEFBAD9443D6}" destId="{6CBA8287-6C59-46BA-8707-E7E9A3C4EEEE}" srcOrd="0" destOrd="0" presId="urn:microsoft.com/office/officeart/2005/8/layout/vList2"/>
    <dgm:cxn modelId="{930DCDE1-C936-491D-B3CF-DD80CC3D0B8D}" srcId="{A92A56C6-4D98-4603-850D-4A110E77CEFB}" destId="{10168B5E-E9FB-4D42-8D76-DEFBAD9443D6}" srcOrd="0" destOrd="0" parTransId="{AF44F14F-3D92-4452-B6C6-281901641512}" sibTransId="{6DA70D04-A6CA-4E4A-8A61-F14BDD873E77}"/>
    <dgm:cxn modelId="{79A1DFEA-246D-4157-BDE1-CF2075591B9A}" type="presOf" srcId="{3A5E01B4-86FA-497D-92C2-6A1D93DFBDFD}" destId="{501177AC-875E-4BAB-9492-7232DDDA02C9}" srcOrd="0" destOrd="0" presId="urn:microsoft.com/office/officeart/2005/8/layout/vList2"/>
    <dgm:cxn modelId="{55D396F7-C214-4A20-818A-715DC896DFA4}" srcId="{A92A56C6-4D98-4603-850D-4A110E77CEFB}" destId="{D546242E-C7BF-4CA2-B6E4-8A83B23700D8}" srcOrd="3" destOrd="0" parTransId="{A90C56CC-83A5-48C9-B6C6-20C7F11DDF74}" sibTransId="{8BFF28F5-BFAB-4F51-A495-A0F2F898E1AD}"/>
    <dgm:cxn modelId="{910CCBC5-1C29-4A09-8593-4CD690A63A56}" type="presParOf" srcId="{62DA9AAC-687D-4B2B-AA85-C9F0067FDFA8}" destId="{6CBA8287-6C59-46BA-8707-E7E9A3C4EEEE}" srcOrd="0" destOrd="0" presId="urn:microsoft.com/office/officeart/2005/8/layout/vList2"/>
    <dgm:cxn modelId="{D987E7D0-9144-427B-B5F6-CBCAAAB21211}" type="presParOf" srcId="{62DA9AAC-687D-4B2B-AA85-C9F0067FDFA8}" destId="{855FCA42-3BA8-4CBE-A2EF-821FB58CCD7C}" srcOrd="1" destOrd="0" presId="urn:microsoft.com/office/officeart/2005/8/layout/vList2"/>
    <dgm:cxn modelId="{7EACC878-5F28-44C1-BA95-07042AB54A50}" type="presParOf" srcId="{62DA9AAC-687D-4B2B-AA85-C9F0067FDFA8}" destId="{9D69F3CB-33CF-443F-B2CF-C192DC60DED6}" srcOrd="2" destOrd="0" presId="urn:microsoft.com/office/officeart/2005/8/layout/vList2"/>
    <dgm:cxn modelId="{3F667F96-B9D9-4E8E-A79C-5E91FAF7F09B}" type="presParOf" srcId="{62DA9AAC-687D-4B2B-AA85-C9F0067FDFA8}" destId="{E126D4FA-DA92-4B44-B02A-0CAC5E4E22A3}" srcOrd="3" destOrd="0" presId="urn:microsoft.com/office/officeart/2005/8/layout/vList2"/>
    <dgm:cxn modelId="{4095BEF2-8690-4FD3-B08A-24AE35D1A69B}" type="presParOf" srcId="{62DA9AAC-687D-4B2B-AA85-C9F0067FDFA8}" destId="{501177AC-875E-4BAB-9492-7232DDDA02C9}" srcOrd="4" destOrd="0" presId="urn:microsoft.com/office/officeart/2005/8/layout/vList2"/>
    <dgm:cxn modelId="{D6267538-FBA8-4F2F-80B2-6AF78072D8E2}" type="presParOf" srcId="{62DA9AAC-687D-4B2B-AA85-C9F0067FDFA8}" destId="{D8AC6A27-8887-47D8-99C9-B5153FB91B32}" srcOrd="5" destOrd="0" presId="urn:microsoft.com/office/officeart/2005/8/layout/vList2"/>
    <dgm:cxn modelId="{A2BC26AB-D035-45B6-85E4-FDDC5473D85F}" type="presParOf" srcId="{62DA9AAC-687D-4B2B-AA85-C9F0067FDFA8}" destId="{857580EE-3F56-49F9-9E9D-9B2A835DB9F1}"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7621F8-C1D6-4E8B-99BB-F7AF075232CE}"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25D6CFBD-F451-4C11-A0EC-70085993D907}">
      <dgm:prSet/>
      <dgm:spPr/>
      <dgm:t>
        <a:bodyPr/>
        <a:lstStyle/>
        <a:p>
          <a:r>
            <a:rPr lang="en-US" dirty="0">
              <a:latin typeface="Times New Roman" panose="02020603050405020304" pitchFamily="18" charset="0"/>
              <a:cs typeface="Times New Roman" panose="02020603050405020304" pitchFamily="18" charset="0"/>
            </a:rPr>
            <a:t>A centralized, desktop-based digital hub for personal health management</a:t>
          </a:r>
          <a:r>
            <a:rPr lang="en-US" dirty="0"/>
            <a:t>.</a:t>
          </a:r>
        </a:p>
      </dgm:t>
    </dgm:pt>
    <dgm:pt modelId="{CDB238C4-8848-420E-BB0D-3F6301C96B2F}" type="parTrans" cxnId="{0294FC5E-87D9-4E94-A98B-84FABB7DE9F9}">
      <dgm:prSet/>
      <dgm:spPr/>
      <dgm:t>
        <a:bodyPr/>
        <a:lstStyle/>
        <a:p>
          <a:endParaRPr lang="en-US"/>
        </a:p>
      </dgm:t>
    </dgm:pt>
    <dgm:pt modelId="{FC829FB0-AB79-445F-BC32-1B6EA1ABE7BF}" type="sibTrans" cxnId="{0294FC5E-87D9-4E94-A98B-84FABB7DE9F9}">
      <dgm:prSet/>
      <dgm:spPr/>
      <dgm:t>
        <a:bodyPr/>
        <a:lstStyle/>
        <a:p>
          <a:endParaRPr lang="en-US"/>
        </a:p>
      </dgm:t>
    </dgm:pt>
    <dgm:pt modelId="{1DF7C0D6-926F-449E-B331-CB6025E5586D}">
      <dgm:prSet/>
      <dgm:spPr/>
      <dgm:t>
        <a:bodyPr/>
        <a:lstStyle/>
        <a:p>
          <a:r>
            <a:rPr lang="en-US" dirty="0">
              <a:latin typeface="Times New Roman" panose="02020603050405020304" pitchFamily="18" charset="0"/>
              <a:cs typeface="Times New Roman" panose="02020603050405020304" pitchFamily="18" charset="0"/>
            </a:rPr>
            <a:t>Empowers patients to consolidate medication, daily vitals, and physical medical records.</a:t>
          </a:r>
        </a:p>
      </dgm:t>
    </dgm:pt>
    <dgm:pt modelId="{A9150AA5-2294-43B9-90A0-0776DCE7466A}" type="parTrans" cxnId="{A93B6977-B08F-4592-B80A-A1CED24C3EF9}">
      <dgm:prSet/>
      <dgm:spPr/>
      <dgm:t>
        <a:bodyPr/>
        <a:lstStyle/>
        <a:p>
          <a:endParaRPr lang="en-US"/>
        </a:p>
      </dgm:t>
    </dgm:pt>
    <dgm:pt modelId="{BD2F0FD4-294C-4D37-832B-B82EF1A1314C}" type="sibTrans" cxnId="{A93B6977-B08F-4592-B80A-A1CED24C3EF9}">
      <dgm:prSet/>
      <dgm:spPr/>
      <dgm:t>
        <a:bodyPr/>
        <a:lstStyle/>
        <a:p>
          <a:endParaRPr lang="en-US"/>
        </a:p>
      </dgm:t>
    </dgm:pt>
    <dgm:pt modelId="{D62BF452-9461-476D-9671-582BC0E8AB04}">
      <dgm:prSet/>
      <dgm:spPr/>
      <dgm:t>
        <a:bodyPr/>
        <a:lstStyle/>
        <a:p>
          <a:r>
            <a:rPr lang="en-US" dirty="0">
              <a:latin typeface="Times New Roman" panose="02020603050405020304" pitchFamily="18" charset="0"/>
              <a:cs typeface="Times New Roman" panose="02020603050405020304" pitchFamily="18" charset="0"/>
            </a:rPr>
            <a:t>Operates completely offline, ensuring privacy and immediate access to life-saving data.</a:t>
          </a:r>
        </a:p>
      </dgm:t>
    </dgm:pt>
    <dgm:pt modelId="{5E3C3EE5-DCFB-48A9-BADE-8E72718E20DB}" type="parTrans" cxnId="{4974C2D8-4EBD-493B-834B-BF0FA5155834}">
      <dgm:prSet/>
      <dgm:spPr/>
      <dgm:t>
        <a:bodyPr/>
        <a:lstStyle/>
        <a:p>
          <a:endParaRPr lang="en-US"/>
        </a:p>
      </dgm:t>
    </dgm:pt>
    <dgm:pt modelId="{B36FD91B-9D6D-4265-852F-67D270E2FA95}" type="sibTrans" cxnId="{4974C2D8-4EBD-493B-834B-BF0FA5155834}">
      <dgm:prSet/>
      <dgm:spPr/>
      <dgm:t>
        <a:bodyPr/>
        <a:lstStyle/>
        <a:p>
          <a:endParaRPr lang="en-US"/>
        </a:p>
      </dgm:t>
    </dgm:pt>
    <dgm:pt modelId="{FC6FA24C-4159-49BF-A63C-1860FB5FB66B}" type="pres">
      <dgm:prSet presAssocID="{D67621F8-C1D6-4E8B-99BB-F7AF075232CE}" presName="root" presStyleCnt="0">
        <dgm:presLayoutVars>
          <dgm:dir/>
          <dgm:resizeHandles val="exact"/>
        </dgm:presLayoutVars>
      </dgm:prSet>
      <dgm:spPr/>
    </dgm:pt>
    <dgm:pt modelId="{3A82FE38-549C-4652-BAC9-86272BE6F5BB}" type="pres">
      <dgm:prSet presAssocID="{25D6CFBD-F451-4C11-A0EC-70085993D907}" presName="compNode" presStyleCnt="0"/>
      <dgm:spPr/>
    </dgm:pt>
    <dgm:pt modelId="{44FC2F0A-1BAC-4EB1-82BE-C4E69EF85F5B}" type="pres">
      <dgm:prSet presAssocID="{25D6CFBD-F451-4C11-A0EC-70085993D90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4216B7F1-E82C-44A2-BE91-A1B39B27927B}" type="pres">
      <dgm:prSet presAssocID="{25D6CFBD-F451-4C11-A0EC-70085993D907}" presName="spaceRect" presStyleCnt="0"/>
      <dgm:spPr/>
    </dgm:pt>
    <dgm:pt modelId="{A4FAE8DA-A7E1-4D97-8F19-156D9E2C9A32}" type="pres">
      <dgm:prSet presAssocID="{25D6CFBD-F451-4C11-A0EC-70085993D907}" presName="textRect" presStyleLbl="revTx" presStyleIdx="0" presStyleCnt="3">
        <dgm:presLayoutVars>
          <dgm:chMax val="1"/>
          <dgm:chPref val="1"/>
        </dgm:presLayoutVars>
      </dgm:prSet>
      <dgm:spPr/>
    </dgm:pt>
    <dgm:pt modelId="{D9F79EED-768C-4891-B398-87A04BD9B288}" type="pres">
      <dgm:prSet presAssocID="{FC829FB0-AB79-445F-BC32-1B6EA1ABE7BF}" presName="sibTrans" presStyleCnt="0"/>
      <dgm:spPr/>
    </dgm:pt>
    <dgm:pt modelId="{D759AA70-6345-4DF3-A876-D4F87080F880}" type="pres">
      <dgm:prSet presAssocID="{1DF7C0D6-926F-449E-B331-CB6025E5586D}" presName="compNode" presStyleCnt="0"/>
      <dgm:spPr/>
    </dgm:pt>
    <dgm:pt modelId="{FB893823-9F77-4293-82CE-9F52FAA61774}" type="pres">
      <dgm:prSet presAssocID="{1DF7C0D6-926F-449E-B331-CB6025E558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ine"/>
        </a:ext>
      </dgm:extLst>
    </dgm:pt>
    <dgm:pt modelId="{C83F92A2-33CF-43E6-B353-413DC67518F4}" type="pres">
      <dgm:prSet presAssocID="{1DF7C0D6-926F-449E-B331-CB6025E5586D}" presName="spaceRect" presStyleCnt="0"/>
      <dgm:spPr/>
    </dgm:pt>
    <dgm:pt modelId="{0844701C-CDD3-4C41-90E2-859D7A1FC1BE}" type="pres">
      <dgm:prSet presAssocID="{1DF7C0D6-926F-449E-B331-CB6025E5586D}" presName="textRect" presStyleLbl="revTx" presStyleIdx="1" presStyleCnt="3">
        <dgm:presLayoutVars>
          <dgm:chMax val="1"/>
          <dgm:chPref val="1"/>
        </dgm:presLayoutVars>
      </dgm:prSet>
      <dgm:spPr/>
    </dgm:pt>
    <dgm:pt modelId="{919C7B16-60E7-48FA-A585-5BD5477513EA}" type="pres">
      <dgm:prSet presAssocID="{BD2F0FD4-294C-4D37-832B-B82EF1A1314C}" presName="sibTrans" presStyleCnt="0"/>
      <dgm:spPr/>
    </dgm:pt>
    <dgm:pt modelId="{3F0666B1-79AF-4F9E-AB38-4F45A4FA2A29}" type="pres">
      <dgm:prSet presAssocID="{D62BF452-9461-476D-9671-582BC0E8AB04}" presName="compNode" presStyleCnt="0"/>
      <dgm:spPr/>
    </dgm:pt>
    <dgm:pt modelId="{E8C87887-9EC0-4B4B-B94A-6AE9FF039223}" type="pres">
      <dgm:prSet presAssocID="{D62BF452-9461-476D-9671-582BC0E8AB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8D688D60-EC9B-4D47-A442-E6C769DA7540}" type="pres">
      <dgm:prSet presAssocID="{D62BF452-9461-476D-9671-582BC0E8AB04}" presName="spaceRect" presStyleCnt="0"/>
      <dgm:spPr/>
    </dgm:pt>
    <dgm:pt modelId="{5AD59466-FD94-4542-B4EA-210CB82E01B4}" type="pres">
      <dgm:prSet presAssocID="{D62BF452-9461-476D-9671-582BC0E8AB04}" presName="textRect" presStyleLbl="revTx" presStyleIdx="2" presStyleCnt="3">
        <dgm:presLayoutVars>
          <dgm:chMax val="1"/>
          <dgm:chPref val="1"/>
        </dgm:presLayoutVars>
      </dgm:prSet>
      <dgm:spPr/>
    </dgm:pt>
  </dgm:ptLst>
  <dgm:cxnLst>
    <dgm:cxn modelId="{2D535E02-6711-4682-8A21-6B7BD270082A}" type="presOf" srcId="{1DF7C0D6-926F-449E-B331-CB6025E5586D}" destId="{0844701C-CDD3-4C41-90E2-859D7A1FC1BE}" srcOrd="0" destOrd="0" presId="urn:microsoft.com/office/officeart/2018/2/layout/IconLabelList"/>
    <dgm:cxn modelId="{0294FC5E-87D9-4E94-A98B-84FABB7DE9F9}" srcId="{D67621F8-C1D6-4E8B-99BB-F7AF075232CE}" destId="{25D6CFBD-F451-4C11-A0EC-70085993D907}" srcOrd="0" destOrd="0" parTransId="{CDB238C4-8848-420E-BB0D-3F6301C96B2F}" sibTransId="{FC829FB0-AB79-445F-BC32-1B6EA1ABE7BF}"/>
    <dgm:cxn modelId="{A93B6977-B08F-4592-B80A-A1CED24C3EF9}" srcId="{D67621F8-C1D6-4E8B-99BB-F7AF075232CE}" destId="{1DF7C0D6-926F-449E-B331-CB6025E5586D}" srcOrd="1" destOrd="0" parTransId="{A9150AA5-2294-43B9-90A0-0776DCE7466A}" sibTransId="{BD2F0FD4-294C-4D37-832B-B82EF1A1314C}"/>
    <dgm:cxn modelId="{DF6C4E85-5AA2-4336-ABF1-EF1B856523AB}" type="presOf" srcId="{D62BF452-9461-476D-9671-582BC0E8AB04}" destId="{5AD59466-FD94-4542-B4EA-210CB82E01B4}" srcOrd="0" destOrd="0" presId="urn:microsoft.com/office/officeart/2018/2/layout/IconLabelList"/>
    <dgm:cxn modelId="{ACA1D4D4-B0B7-4098-B305-1FB93375DE35}" type="presOf" srcId="{D67621F8-C1D6-4E8B-99BB-F7AF075232CE}" destId="{FC6FA24C-4159-49BF-A63C-1860FB5FB66B}" srcOrd="0" destOrd="0" presId="urn:microsoft.com/office/officeart/2018/2/layout/IconLabelList"/>
    <dgm:cxn modelId="{4974C2D8-4EBD-493B-834B-BF0FA5155834}" srcId="{D67621F8-C1D6-4E8B-99BB-F7AF075232CE}" destId="{D62BF452-9461-476D-9671-582BC0E8AB04}" srcOrd="2" destOrd="0" parTransId="{5E3C3EE5-DCFB-48A9-BADE-8E72718E20DB}" sibTransId="{B36FD91B-9D6D-4265-852F-67D270E2FA95}"/>
    <dgm:cxn modelId="{34BC6AE5-E872-49C9-B942-3AC02DFE610C}" type="presOf" srcId="{25D6CFBD-F451-4C11-A0EC-70085993D907}" destId="{A4FAE8DA-A7E1-4D97-8F19-156D9E2C9A32}" srcOrd="0" destOrd="0" presId="urn:microsoft.com/office/officeart/2018/2/layout/IconLabelList"/>
    <dgm:cxn modelId="{75239CA9-BE56-40E6-852B-CEEA6078F553}" type="presParOf" srcId="{FC6FA24C-4159-49BF-A63C-1860FB5FB66B}" destId="{3A82FE38-549C-4652-BAC9-86272BE6F5BB}" srcOrd="0" destOrd="0" presId="urn:microsoft.com/office/officeart/2018/2/layout/IconLabelList"/>
    <dgm:cxn modelId="{7FBFF631-4493-4CA3-ADBA-0D55AAD3E300}" type="presParOf" srcId="{3A82FE38-549C-4652-BAC9-86272BE6F5BB}" destId="{44FC2F0A-1BAC-4EB1-82BE-C4E69EF85F5B}" srcOrd="0" destOrd="0" presId="urn:microsoft.com/office/officeart/2018/2/layout/IconLabelList"/>
    <dgm:cxn modelId="{410953D3-469F-4E05-B5A0-07923C1987E7}" type="presParOf" srcId="{3A82FE38-549C-4652-BAC9-86272BE6F5BB}" destId="{4216B7F1-E82C-44A2-BE91-A1B39B27927B}" srcOrd="1" destOrd="0" presId="urn:microsoft.com/office/officeart/2018/2/layout/IconLabelList"/>
    <dgm:cxn modelId="{87D59EE9-508E-4C27-A165-EF98C0B9FFC6}" type="presParOf" srcId="{3A82FE38-549C-4652-BAC9-86272BE6F5BB}" destId="{A4FAE8DA-A7E1-4D97-8F19-156D9E2C9A32}" srcOrd="2" destOrd="0" presId="urn:microsoft.com/office/officeart/2018/2/layout/IconLabelList"/>
    <dgm:cxn modelId="{68ED5906-27E4-49C5-828C-91D3C42F47B2}" type="presParOf" srcId="{FC6FA24C-4159-49BF-A63C-1860FB5FB66B}" destId="{D9F79EED-768C-4891-B398-87A04BD9B288}" srcOrd="1" destOrd="0" presId="urn:microsoft.com/office/officeart/2018/2/layout/IconLabelList"/>
    <dgm:cxn modelId="{2803C73C-61E1-47F0-9AE7-00E0A54A4746}" type="presParOf" srcId="{FC6FA24C-4159-49BF-A63C-1860FB5FB66B}" destId="{D759AA70-6345-4DF3-A876-D4F87080F880}" srcOrd="2" destOrd="0" presId="urn:microsoft.com/office/officeart/2018/2/layout/IconLabelList"/>
    <dgm:cxn modelId="{744B9C9F-1016-4AEB-8216-7304C2399E81}" type="presParOf" srcId="{D759AA70-6345-4DF3-A876-D4F87080F880}" destId="{FB893823-9F77-4293-82CE-9F52FAA61774}" srcOrd="0" destOrd="0" presId="urn:microsoft.com/office/officeart/2018/2/layout/IconLabelList"/>
    <dgm:cxn modelId="{C4011654-7E63-471C-B100-8ADD78FE67F2}" type="presParOf" srcId="{D759AA70-6345-4DF3-A876-D4F87080F880}" destId="{C83F92A2-33CF-43E6-B353-413DC67518F4}" srcOrd="1" destOrd="0" presId="urn:microsoft.com/office/officeart/2018/2/layout/IconLabelList"/>
    <dgm:cxn modelId="{13B6E585-441D-467D-972F-AA6D07A74FCF}" type="presParOf" srcId="{D759AA70-6345-4DF3-A876-D4F87080F880}" destId="{0844701C-CDD3-4C41-90E2-859D7A1FC1BE}" srcOrd="2" destOrd="0" presId="urn:microsoft.com/office/officeart/2018/2/layout/IconLabelList"/>
    <dgm:cxn modelId="{21515C01-D1AB-4F1F-ACA2-E666202563BE}" type="presParOf" srcId="{FC6FA24C-4159-49BF-A63C-1860FB5FB66B}" destId="{919C7B16-60E7-48FA-A585-5BD5477513EA}" srcOrd="3" destOrd="0" presId="urn:microsoft.com/office/officeart/2018/2/layout/IconLabelList"/>
    <dgm:cxn modelId="{EE4C3258-AB21-4AA9-9407-10009D102616}" type="presParOf" srcId="{FC6FA24C-4159-49BF-A63C-1860FB5FB66B}" destId="{3F0666B1-79AF-4F9E-AB38-4F45A4FA2A29}" srcOrd="4" destOrd="0" presId="urn:microsoft.com/office/officeart/2018/2/layout/IconLabelList"/>
    <dgm:cxn modelId="{2A487725-0A5C-452E-8820-ACED857929E6}" type="presParOf" srcId="{3F0666B1-79AF-4F9E-AB38-4F45A4FA2A29}" destId="{E8C87887-9EC0-4B4B-B94A-6AE9FF039223}" srcOrd="0" destOrd="0" presId="urn:microsoft.com/office/officeart/2018/2/layout/IconLabelList"/>
    <dgm:cxn modelId="{4566737D-410B-484E-B6AB-6BB2DCFCDC67}" type="presParOf" srcId="{3F0666B1-79AF-4F9E-AB38-4F45A4FA2A29}" destId="{8D688D60-EC9B-4D47-A442-E6C769DA7540}" srcOrd="1" destOrd="0" presId="urn:microsoft.com/office/officeart/2018/2/layout/IconLabelList"/>
    <dgm:cxn modelId="{702F0BCD-EA99-45C4-9AAD-CE045AF30CA4}" type="presParOf" srcId="{3F0666B1-79AF-4F9E-AB38-4F45A4FA2A29}" destId="{5AD59466-FD94-4542-B4EA-210CB82E01B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E2A78A-36CF-4A76-9E30-8D8176504020}"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3208D8F-4068-4A00-80F9-58D9E347A9C0}">
      <dgm:prSet custT="1"/>
      <dgm:spPr/>
      <dgm:t>
        <a:bodyPr/>
        <a:lstStyle/>
        <a:p>
          <a:pPr>
            <a:defRPr cap="all"/>
          </a:pPr>
          <a:r>
            <a:rPr lang="en-US" sz="1600" b="1" dirty="0">
              <a:latin typeface="Times New Roman" panose="02020603050405020304" pitchFamily="18" charset="0"/>
              <a:cs typeface="Times New Roman" panose="02020603050405020304" pitchFamily="18" charset="0"/>
            </a:rPr>
            <a:t>Medication &amp; Interaction Tracking</a:t>
          </a:r>
        </a:p>
        <a:p>
          <a:pPr>
            <a:defRPr cap="all"/>
          </a:pPr>
          <a:r>
            <a:rPr lang="en-US" sz="1600" b="1" dirty="0">
              <a:latin typeface="Times New Roman" panose="02020603050405020304" pitchFamily="18" charset="0"/>
              <a:cs typeface="Times New Roman" panose="02020603050405020304" pitchFamily="18" charset="0"/>
            </a:rPr>
            <a:t>m</a:t>
          </a:r>
          <a:r>
            <a:rPr lang="en-US" sz="1600" cap="none" dirty="0">
              <a:latin typeface="Times New Roman" panose="02020603050405020304" pitchFamily="18" charset="0"/>
              <a:cs typeface="Times New Roman" panose="02020603050405020304" pitchFamily="18" charset="0"/>
            </a:rPr>
            <a:t>anages inventory and alerts users to dangerous drug interactions.</a:t>
          </a:r>
          <a:endParaRPr lang="en-US" sz="1600" dirty="0">
            <a:latin typeface="Times New Roman" panose="02020603050405020304" pitchFamily="18" charset="0"/>
            <a:cs typeface="Times New Roman" panose="02020603050405020304" pitchFamily="18" charset="0"/>
          </a:endParaRPr>
        </a:p>
      </dgm:t>
    </dgm:pt>
    <dgm:pt modelId="{743D590D-1F04-49BA-B01B-77F05AA38B91}" type="parTrans" cxnId="{46C52573-0B14-49A1-B5D4-DF47301468BA}">
      <dgm:prSet/>
      <dgm:spPr/>
      <dgm:t>
        <a:bodyPr/>
        <a:lstStyle/>
        <a:p>
          <a:endParaRPr lang="en-US"/>
        </a:p>
      </dgm:t>
    </dgm:pt>
    <dgm:pt modelId="{809C63F7-0398-4EB2-9238-AFA140043099}" type="sibTrans" cxnId="{46C52573-0B14-49A1-B5D4-DF47301468BA}">
      <dgm:prSet/>
      <dgm:spPr/>
      <dgm:t>
        <a:bodyPr/>
        <a:lstStyle/>
        <a:p>
          <a:endParaRPr lang="en-US"/>
        </a:p>
      </dgm:t>
    </dgm:pt>
    <dgm:pt modelId="{92F4F993-9859-481C-BD29-ADB4C84355F0}">
      <dgm:prSet/>
      <dgm:spPr/>
      <dgm:t>
        <a:bodyPr/>
        <a:lstStyle/>
        <a:p>
          <a:pPr>
            <a:defRPr cap="all"/>
          </a:pPr>
          <a:r>
            <a:rPr lang="en-US" b="1" dirty="0">
              <a:latin typeface="Times New Roman" panose="02020603050405020304" pitchFamily="18" charset="0"/>
              <a:cs typeface="Times New Roman" panose="02020603050405020304" pitchFamily="18" charset="0"/>
            </a:rPr>
            <a:t>Comprehensive Health Logs</a:t>
          </a:r>
          <a:endParaRPr lang="en-US" b="1" cap="none" dirty="0">
            <a:latin typeface="Times New Roman" panose="02020603050405020304" pitchFamily="18" charset="0"/>
            <a:cs typeface="Times New Roman" panose="02020603050405020304" pitchFamily="18" charset="0"/>
          </a:endParaRPr>
        </a:p>
        <a:p>
          <a:pPr>
            <a:defRPr cap="all"/>
          </a:pPr>
          <a:r>
            <a:rPr lang="en-US" cap="none" dirty="0">
              <a:latin typeface="Times New Roman" panose="02020603050405020304" pitchFamily="18" charset="0"/>
              <a:cs typeface="Times New Roman" panose="02020603050405020304" pitchFamily="18" charset="0"/>
            </a:rPr>
            <a:t>Tracks vitals, diet, weight, hydration, and daily symptoms</a:t>
          </a:r>
          <a:r>
            <a:rPr lang="en-US" dirty="0">
              <a:latin typeface="Times New Roman" panose="02020603050405020304" pitchFamily="18" charset="0"/>
              <a:cs typeface="Times New Roman" panose="02020603050405020304" pitchFamily="18" charset="0"/>
            </a:rPr>
            <a:t>.</a:t>
          </a:r>
        </a:p>
      </dgm:t>
    </dgm:pt>
    <dgm:pt modelId="{1A9BA000-3E2F-4237-A2D7-9FA4657AE302}" type="parTrans" cxnId="{F7732E58-BA63-40AC-A2FD-3A6A75B51BE0}">
      <dgm:prSet/>
      <dgm:spPr/>
      <dgm:t>
        <a:bodyPr/>
        <a:lstStyle/>
        <a:p>
          <a:endParaRPr lang="en-US"/>
        </a:p>
      </dgm:t>
    </dgm:pt>
    <dgm:pt modelId="{BB7ADCF9-1746-4869-9094-55D6C9E7747C}" type="sibTrans" cxnId="{F7732E58-BA63-40AC-A2FD-3A6A75B51BE0}">
      <dgm:prSet/>
      <dgm:spPr/>
      <dgm:t>
        <a:bodyPr/>
        <a:lstStyle/>
        <a:p>
          <a:endParaRPr lang="en-US"/>
        </a:p>
      </dgm:t>
    </dgm:pt>
    <dgm:pt modelId="{44C77404-7A87-490B-B834-22AF8922A308}">
      <dgm:prSet/>
      <dgm:spPr/>
      <dgm:t>
        <a:bodyPr/>
        <a:lstStyle/>
        <a:p>
          <a:pPr>
            <a:defRPr cap="all"/>
          </a:pPr>
          <a:r>
            <a:rPr lang="en-US" b="1" dirty="0">
              <a:latin typeface="Times New Roman" panose="02020603050405020304" pitchFamily="18" charset="0"/>
              <a:cs typeface="Times New Roman" panose="02020603050405020304" pitchFamily="18" charset="0"/>
            </a:rPr>
            <a:t>Emergency Protocol </a:t>
          </a:r>
        </a:p>
        <a:p>
          <a:pPr>
            <a:defRPr cap="all"/>
          </a:pPr>
          <a:r>
            <a:rPr lang="en-US" cap="none" dirty="0">
              <a:latin typeface="Times New Roman" panose="02020603050405020304" pitchFamily="18" charset="0"/>
              <a:cs typeface="Times New Roman" panose="02020603050405020304" pitchFamily="18" charset="0"/>
            </a:rPr>
            <a:t>One-click generation of a life-saving profile.</a:t>
          </a:r>
        </a:p>
      </dgm:t>
    </dgm:pt>
    <dgm:pt modelId="{53BB22E4-4453-4DC2-9882-D92BAC663C04}" type="parTrans" cxnId="{800642D7-A653-4ECE-9B76-34F3FF7A6AB1}">
      <dgm:prSet/>
      <dgm:spPr/>
      <dgm:t>
        <a:bodyPr/>
        <a:lstStyle/>
        <a:p>
          <a:endParaRPr lang="en-US"/>
        </a:p>
      </dgm:t>
    </dgm:pt>
    <dgm:pt modelId="{F4CB8F20-BE61-4F5C-840F-77DA5525BB63}" type="sibTrans" cxnId="{800642D7-A653-4ECE-9B76-34F3FF7A6AB1}">
      <dgm:prSet/>
      <dgm:spPr/>
      <dgm:t>
        <a:bodyPr/>
        <a:lstStyle/>
        <a:p>
          <a:endParaRPr lang="en-US"/>
        </a:p>
      </dgm:t>
    </dgm:pt>
    <dgm:pt modelId="{78B116DC-A040-4055-85BD-2AF9431E95ED}">
      <dgm:prSet/>
      <dgm:spPr/>
      <dgm:t>
        <a:bodyPr/>
        <a:lstStyle/>
        <a:p>
          <a:pPr>
            <a:defRPr cap="all"/>
          </a:pPr>
          <a:r>
            <a:rPr lang="en-US" b="1" dirty="0">
              <a:latin typeface="Times New Roman" panose="02020603050405020304" pitchFamily="18" charset="0"/>
              <a:cs typeface="Times New Roman" panose="02020603050405020304" pitchFamily="18" charset="0"/>
            </a:rPr>
            <a:t>Record Organization</a:t>
          </a:r>
        </a:p>
        <a:p>
          <a:pPr>
            <a:defRPr cap="all"/>
          </a:pPr>
          <a:r>
            <a:rPr lang="en-US" b="1" dirty="0">
              <a:latin typeface="Times New Roman" panose="02020603050405020304" pitchFamily="18" charset="0"/>
              <a:cs typeface="Times New Roman" panose="02020603050405020304" pitchFamily="18" charset="0"/>
            </a:rPr>
            <a:t> D</a:t>
          </a:r>
          <a:r>
            <a:rPr lang="en-US" cap="none" dirty="0">
              <a:latin typeface="Times New Roman" panose="02020603050405020304" pitchFamily="18" charset="0"/>
              <a:cs typeface="Times New Roman" panose="02020603050405020304" pitchFamily="18" charset="0"/>
            </a:rPr>
            <a:t>igitizes and categorizes physical medical files (pdfs/images).</a:t>
          </a:r>
          <a:endParaRPr lang="en-US" dirty="0">
            <a:latin typeface="Times New Roman" panose="02020603050405020304" pitchFamily="18" charset="0"/>
            <a:cs typeface="Times New Roman" panose="02020603050405020304" pitchFamily="18" charset="0"/>
          </a:endParaRPr>
        </a:p>
      </dgm:t>
    </dgm:pt>
    <dgm:pt modelId="{EDF6BEB5-C6BB-44B9-8D77-73507F8725F7}" type="parTrans" cxnId="{5E5D0B04-892D-46FA-8CD9-2AE8A8E4DF89}">
      <dgm:prSet/>
      <dgm:spPr/>
      <dgm:t>
        <a:bodyPr/>
        <a:lstStyle/>
        <a:p>
          <a:endParaRPr lang="en-US"/>
        </a:p>
      </dgm:t>
    </dgm:pt>
    <dgm:pt modelId="{A77ED571-F378-42CD-B8E3-864F825E7375}" type="sibTrans" cxnId="{5E5D0B04-892D-46FA-8CD9-2AE8A8E4DF89}">
      <dgm:prSet/>
      <dgm:spPr/>
      <dgm:t>
        <a:bodyPr/>
        <a:lstStyle/>
        <a:p>
          <a:endParaRPr lang="en-US"/>
        </a:p>
      </dgm:t>
    </dgm:pt>
    <dgm:pt modelId="{BD40D392-3763-41BE-89ED-318F4215F9B7}">
      <dgm:prSet/>
      <dgm:spPr/>
      <dgm:t>
        <a:bodyPr/>
        <a:lstStyle/>
        <a:p>
          <a:pPr>
            <a:defRPr cap="all"/>
          </a:pPr>
          <a:r>
            <a:rPr lang="en-US" b="1" dirty="0">
              <a:latin typeface="Times New Roman" panose="02020603050405020304" pitchFamily="18" charset="0"/>
              <a:cs typeface="Times New Roman" panose="02020603050405020304" pitchFamily="18" charset="0"/>
            </a:rPr>
            <a:t>Analytics &amp; Reporting</a:t>
          </a:r>
        </a:p>
        <a:p>
          <a:pPr>
            <a:defRPr cap="all"/>
          </a:pPr>
          <a:r>
            <a:rPr lang="en-US" b="1" dirty="0">
              <a:latin typeface="Times New Roman" panose="02020603050405020304" pitchFamily="18" charset="0"/>
              <a:cs typeface="Times New Roman" panose="02020603050405020304" pitchFamily="18" charset="0"/>
            </a:rPr>
            <a:t> G</a:t>
          </a:r>
          <a:r>
            <a:rPr lang="en-US" cap="none" dirty="0">
              <a:latin typeface="Times New Roman" panose="02020603050405020304" pitchFamily="18" charset="0"/>
              <a:cs typeface="Times New Roman" panose="02020603050405020304" pitchFamily="18" charset="0"/>
            </a:rPr>
            <a:t>enerates visual graphs and exportable pdf health reports.</a:t>
          </a:r>
          <a:endParaRPr lang="en-US" dirty="0">
            <a:latin typeface="Times New Roman" panose="02020603050405020304" pitchFamily="18" charset="0"/>
            <a:cs typeface="Times New Roman" panose="02020603050405020304" pitchFamily="18" charset="0"/>
          </a:endParaRPr>
        </a:p>
      </dgm:t>
    </dgm:pt>
    <dgm:pt modelId="{9C791CEE-9F7B-4A2C-842A-D5060C16DD2D}" type="parTrans" cxnId="{2190FA93-4D76-4BFC-88E5-7FB051055960}">
      <dgm:prSet/>
      <dgm:spPr/>
      <dgm:t>
        <a:bodyPr/>
        <a:lstStyle/>
        <a:p>
          <a:endParaRPr lang="en-US"/>
        </a:p>
      </dgm:t>
    </dgm:pt>
    <dgm:pt modelId="{574D4B2E-0428-4AA4-8EF6-FCA3B99159F4}" type="sibTrans" cxnId="{2190FA93-4D76-4BFC-88E5-7FB051055960}">
      <dgm:prSet/>
      <dgm:spPr/>
      <dgm:t>
        <a:bodyPr/>
        <a:lstStyle/>
        <a:p>
          <a:endParaRPr lang="en-US"/>
        </a:p>
      </dgm:t>
    </dgm:pt>
    <dgm:pt modelId="{E47E7097-A91E-4D56-A555-9282FB7F2667}" type="pres">
      <dgm:prSet presAssocID="{D2E2A78A-36CF-4A76-9E30-8D8176504020}" presName="root" presStyleCnt="0">
        <dgm:presLayoutVars>
          <dgm:dir/>
          <dgm:resizeHandles val="exact"/>
        </dgm:presLayoutVars>
      </dgm:prSet>
      <dgm:spPr/>
    </dgm:pt>
    <dgm:pt modelId="{5BF2E4BA-1DE1-432D-B372-707F41160C39}" type="pres">
      <dgm:prSet presAssocID="{33208D8F-4068-4A00-80F9-58D9E347A9C0}" presName="compNode" presStyleCnt="0"/>
      <dgm:spPr/>
    </dgm:pt>
    <dgm:pt modelId="{9AB71417-1E0E-4311-A74F-65DCF4DDE474}" type="pres">
      <dgm:prSet presAssocID="{33208D8F-4068-4A00-80F9-58D9E347A9C0}" presName="iconBgRect" presStyleLbl="bgShp" presStyleIdx="0" presStyleCnt="5"/>
      <dgm:spPr/>
    </dgm:pt>
    <dgm:pt modelId="{C01F4487-A15D-4520-B982-40D874386A86}" type="pres">
      <dgm:prSet presAssocID="{33208D8F-4068-4A00-80F9-58D9E347A9C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dicine"/>
        </a:ext>
      </dgm:extLst>
    </dgm:pt>
    <dgm:pt modelId="{869A0397-C3A8-44A6-AE59-BA2672C4B97E}" type="pres">
      <dgm:prSet presAssocID="{33208D8F-4068-4A00-80F9-58D9E347A9C0}" presName="spaceRect" presStyleCnt="0"/>
      <dgm:spPr/>
    </dgm:pt>
    <dgm:pt modelId="{FCAF8D69-D57B-491A-81C4-4B58872CA0D6}" type="pres">
      <dgm:prSet presAssocID="{33208D8F-4068-4A00-80F9-58D9E347A9C0}" presName="textRect" presStyleLbl="revTx" presStyleIdx="0" presStyleCnt="5">
        <dgm:presLayoutVars>
          <dgm:chMax val="1"/>
          <dgm:chPref val="1"/>
        </dgm:presLayoutVars>
      </dgm:prSet>
      <dgm:spPr/>
    </dgm:pt>
    <dgm:pt modelId="{28978BDB-E36C-446C-BBEF-C3CC34F12213}" type="pres">
      <dgm:prSet presAssocID="{809C63F7-0398-4EB2-9238-AFA140043099}" presName="sibTrans" presStyleCnt="0"/>
      <dgm:spPr/>
    </dgm:pt>
    <dgm:pt modelId="{03C7C23E-BF58-46FD-99F7-8A427D6EF95B}" type="pres">
      <dgm:prSet presAssocID="{92F4F993-9859-481C-BD29-ADB4C84355F0}" presName="compNode" presStyleCnt="0"/>
      <dgm:spPr/>
    </dgm:pt>
    <dgm:pt modelId="{42DC4D21-F6F1-41BB-982F-EA1AE7ABA625}" type="pres">
      <dgm:prSet presAssocID="{92F4F993-9859-481C-BD29-ADB4C84355F0}" presName="iconBgRect" presStyleLbl="bgShp" presStyleIdx="1" presStyleCnt="5"/>
      <dgm:spPr/>
    </dgm:pt>
    <dgm:pt modelId="{1A2F66EC-63DC-4816-B00E-762A1FEF5B59}" type="pres">
      <dgm:prSet presAssocID="{92F4F993-9859-481C-BD29-ADB4C84355F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rt with Pulse"/>
        </a:ext>
      </dgm:extLst>
    </dgm:pt>
    <dgm:pt modelId="{4DB9DA6A-6DBF-4B63-AF5A-B1002B10968F}" type="pres">
      <dgm:prSet presAssocID="{92F4F993-9859-481C-BD29-ADB4C84355F0}" presName="spaceRect" presStyleCnt="0"/>
      <dgm:spPr/>
    </dgm:pt>
    <dgm:pt modelId="{CE206F44-0F5F-436F-A4B5-8C09BB8100D3}" type="pres">
      <dgm:prSet presAssocID="{92F4F993-9859-481C-BD29-ADB4C84355F0}" presName="textRect" presStyleLbl="revTx" presStyleIdx="1" presStyleCnt="5">
        <dgm:presLayoutVars>
          <dgm:chMax val="1"/>
          <dgm:chPref val="1"/>
        </dgm:presLayoutVars>
      </dgm:prSet>
      <dgm:spPr/>
    </dgm:pt>
    <dgm:pt modelId="{D8B357C7-5CE7-406A-9F6C-D97AD3A4FA43}" type="pres">
      <dgm:prSet presAssocID="{BB7ADCF9-1746-4869-9094-55D6C9E7747C}" presName="sibTrans" presStyleCnt="0"/>
      <dgm:spPr/>
    </dgm:pt>
    <dgm:pt modelId="{54EB24D9-9BDB-4005-8A51-0FAB0F6B59ED}" type="pres">
      <dgm:prSet presAssocID="{44C77404-7A87-490B-B834-22AF8922A308}" presName="compNode" presStyleCnt="0"/>
      <dgm:spPr/>
    </dgm:pt>
    <dgm:pt modelId="{5F522078-11AF-4F12-A838-0148EF27F10F}" type="pres">
      <dgm:prSet presAssocID="{44C77404-7A87-490B-B834-22AF8922A308}" presName="iconBgRect" presStyleLbl="bgShp" presStyleIdx="2" presStyleCnt="5"/>
      <dgm:spPr/>
    </dgm:pt>
    <dgm:pt modelId="{E933FBFD-4A72-4532-8A5D-E6FD74849054}" type="pres">
      <dgm:prSet presAssocID="{44C77404-7A87-490B-B834-22AF8922A30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mbulance"/>
        </a:ext>
      </dgm:extLst>
    </dgm:pt>
    <dgm:pt modelId="{62606B95-5E4B-4EFE-94B3-9773ECF3DF33}" type="pres">
      <dgm:prSet presAssocID="{44C77404-7A87-490B-B834-22AF8922A308}" presName="spaceRect" presStyleCnt="0"/>
      <dgm:spPr/>
    </dgm:pt>
    <dgm:pt modelId="{E14E4056-886C-4C98-810B-6FE743029B52}" type="pres">
      <dgm:prSet presAssocID="{44C77404-7A87-490B-B834-22AF8922A308}" presName="textRect" presStyleLbl="revTx" presStyleIdx="2" presStyleCnt="5">
        <dgm:presLayoutVars>
          <dgm:chMax val="1"/>
          <dgm:chPref val="1"/>
        </dgm:presLayoutVars>
      </dgm:prSet>
      <dgm:spPr/>
    </dgm:pt>
    <dgm:pt modelId="{E23B91AA-A627-4696-BAAB-C00880B4007E}" type="pres">
      <dgm:prSet presAssocID="{F4CB8F20-BE61-4F5C-840F-77DA5525BB63}" presName="sibTrans" presStyleCnt="0"/>
      <dgm:spPr/>
    </dgm:pt>
    <dgm:pt modelId="{9159EDBA-162F-43B6-82EC-9DD39D59483D}" type="pres">
      <dgm:prSet presAssocID="{78B116DC-A040-4055-85BD-2AF9431E95ED}" presName="compNode" presStyleCnt="0"/>
      <dgm:spPr/>
    </dgm:pt>
    <dgm:pt modelId="{C94D9F51-BAB4-433C-A030-44A9EC5E45A2}" type="pres">
      <dgm:prSet presAssocID="{78B116DC-A040-4055-85BD-2AF9431E95ED}" presName="iconBgRect" presStyleLbl="bgShp" presStyleIdx="3" presStyleCnt="5"/>
      <dgm:spPr/>
    </dgm:pt>
    <dgm:pt modelId="{326B49E3-0B51-4BF4-B9F6-C1088454B5C4}" type="pres">
      <dgm:prSet presAssocID="{78B116DC-A040-4055-85BD-2AF9431E95E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ter"/>
        </a:ext>
      </dgm:extLst>
    </dgm:pt>
    <dgm:pt modelId="{E790D657-433D-4DF9-87A8-E4315E4D0AB9}" type="pres">
      <dgm:prSet presAssocID="{78B116DC-A040-4055-85BD-2AF9431E95ED}" presName="spaceRect" presStyleCnt="0"/>
      <dgm:spPr/>
    </dgm:pt>
    <dgm:pt modelId="{F248ACE5-7403-4077-A702-01B1E803CF28}" type="pres">
      <dgm:prSet presAssocID="{78B116DC-A040-4055-85BD-2AF9431E95ED}" presName="textRect" presStyleLbl="revTx" presStyleIdx="3" presStyleCnt="5">
        <dgm:presLayoutVars>
          <dgm:chMax val="1"/>
          <dgm:chPref val="1"/>
        </dgm:presLayoutVars>
      </dgm:prSet>
      <dgm:spPr/>
    </dgm:pt>
    <dgm:pt modelId="{134FCE3B-A549-4A95-B581-78216210D56B}" type="pres">
      <dgm:prSet presAssocID="{A77ED571-F378-42CD-B8E3-864F825E7375}" presName="sibTrans" presStyleCnt="0"/>
      <dgm:spPr/>
    </dgm:pt>
    <dgm:pt modelId="{5B85BE4B-2364-4ECE-B64F-61AD609F8176}" type="pres">
      <dgm:prSet presAssocID="{BD40D392-3763-41BE-89ED-318F4215F9B7}" presName="compNode" presStyleCnt="0"/>
      <dgm:spPr/>
    </dgm:pt>
    <dgm:pt modelId="{AA7E73DD-16B6-46FF-8EE4-AC21E48E5364}" type="pres">
      <dgm:prSet presAssocID="{BD40D392-3763-41BE-89ED-318F4215F9B7}" presName="iconBgRect" presStyleLbl="bgShp" presStyleIdx="4" presStyleCnt="5"/>
      <dgm:spPr/>
    </dgm:pt>
    <dgm:pt modelId="{484E848D-067E-422C-8FC5-961B04DD3396}" type="pres">
      <dgm:prSet presAssocID="{BD40D392-3763-41BE-89ED-318F4215F9B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D76E1EC0-7E9D-44C6-BAD2-3037793AEDE5}" type="pres">
      <dgm:prSet presAssocID="{BD40D392-3763-41BE-89ED-318F4215F9B7}" presName="spaceRect" presStyleCnt="0"/>
      <dgm:spPr/>
    </dgm:pt>
    <dgm:pt modelId="{02FDAE5A-47EB-4201-924C-325D31D5BA86}" type="pres">
      <dgm:prSet presAssocID="{BD40D392-3763-41BE-89ED-318F4215F9B7}" presName="textRect" presStyleLbl="revTx" presStyleIdx="4" presStyleCnt="5">
        <dgm:presLayoutVars>
          <dgm:chMax val="1"/>
          <dgm:chPref val="1"/>
        </dgm:presLayoutVars>
      </dgm:prSet>
      <dgm:spPr/>
    </dgm:pt>
  </dgm:ptLst>
  <dgm:cxnLst>
    <dgm:cxn modelId="{5E5D0B04-892D-46FA-8CD9-2AE8A8E4DF89}" srcId="{D2E2A78A-36CF-4A76-9E30-8D8176504020}" destId="{78B116DC-A040-4055-85BD-2AF9431E95ED}" srcOrd="3" destOrd="0" parTransId="{EDF6BEB5-C6BB-44B9-8D77-73507F8725F7}" sibTransId="{A77ED571-F378-42CD-B8E3-864F825E7375}"/>
    <dgm:cxn modelId="{25E4E518-7372-4B30-A5AB-63F7B2322C83}" type="presOf" srcId="{BD40D392-3763-41BE-89ED-318F4215F9B7}" destId="{02FDAE5A-47EB-4201-924C-325D31D5BA86}" srcOrd="0" destOrd="0" presId="urn:microsoft.com/office/officeart/2018/5/layout/IconCircleLabelList"/>
    <dgm:cxn modelId="{0424932E-33C4-40AC-A3F1-21F25464C3A3}" type="presOf" srcId="{33208D8F-4068-4A00-80F9-58D9E347A9C0}" destId="{FCAF8D69-D57B-491A-81C4-4B58872CA0D6}" srcOrd="0" destOrd="0" presId="urn:microsoft.com/office/officeart/2018/5/layout/IconCircleLabelList"/>
    <dgm:cxn modelId="{66D30363-A169-4B80-9C9C-6063F5DFD15E}" type="presOf" srcId="{44C77404-7A87-490B-B834-22AF8922A308}" destId="{E14E4056-886C-4C98-810B-6FE743029B52}" srcOrd="0" destOrd="0" presId="urn:microsoft.com/office/officeart/2018/5/layout/IconCircleLabelList"/>
    <dgm:cxn modelId="{46C52573-0B14-49A1-B5D4-DF47301468BA}" srcId="{D2E2A78A-36CF-4A76-9E30-8D8176504020}" destId="{33208D8F-4068-4A00-80F9-58D9E347A9C0}" srcOrd="0" destOrd="0" parTransId="{743D590D-1F04-49BA-B01B-77F05AA38B91}" sibTransId="{809C63F7-0398-4EB2-9238-AFA140043099}"/>
    <dgm:cxn modelId="{F7732E58-BA63-40AC-A2FD-3A6A75B51BE0}" srcId="{D2E2A78A-36CF-4A76-9E30-8D8176504020}" destId="{92F4F993-9859-481C-BD29-ADB4C84355F0}" srcOrd="1" destOrd="0" parTransId="{1A9BA000-3E2F-4237-A2D7-9FA4657AE302}" sibTransId="{BB7ADCF9-1746-4869-9094-55D6C9E7747C}"/>
    <dgm:cxn modelId="{2190FA93-4D76-4BFC-88E5-7FB051055960}" srcId="{D2E2A78A-36CF-4A76-9E30-8D8176504020}" destId="{BD40D392-3763-41BE-89ED-318F4215F9B7}" srcOrd="4" destOrd="0" parTransId="{9C791CEE-9F7B-4A2C-842A-D5060C16DD2D}" sibTransId="{574D4B2E-0428-4AA4-8EF6-FCA3B99159F4}"/>
    <dgm:cxn modelId="{47B39CBA-6813-44BB-827F-9E92CD7B7E0F}" type="presOf" srcId="{78B116DC-A040-4055-85BD-2AF9431E95ED}" destId="{F248ACE5-7403-4077-A702-01B1E803CF28}" srcOrd="0" destOrd="0" presId="urn:microsoft.com/office/officeart/2018/5/layout/IconCircleLabelList"/>
    <dgm:cxn modelId="{800642D7-A653-4ECE-9B76-34F3FF7A6AB1}" srcId="{D2E2A78A-36CF-4A76-9E30-8D8176504020}" destId="{44C77404-7A87-490B-B834-22AF8922A308}" srcOrd="2" destOrd="0" parTransId="{53BB22E4-4453-4DC2-9882-D92BAC663C04}" sibTransId="{F4CB8F20-BE61-4F5C-840F-77DA5525BB63}"/>
    <dgm:cxn modelId="{919C8FE6-4B5F-41BE-8E81-BDC70A9162D1}" type="presOf" srcId="{92F4F993-9859-481C-BD29-ADB4C84355F0}" destId="{CE206F44-0F5F-436F-A4B5-8C09BB8100D3}" srcOrd="0" destOrd="0" presId="urn:microsoft.com/office/officeart/2018/5/layout/IconCircleLabelList"/>
    <dgm:cxn modelId="{9002FFF9-3690-4AAC-908C-CAF5C12D4016}" type="presOf" srcId="{D2E2A78A-36CF-4A76-9E30-8D8176504020}" destId="{E47E7097-A91E-4D56-A555-9282FB7F2667}" srcOrd="0" destOrd="0" presId="urn:microsoft.com/office/officeart/2018/5/layout/IconCircleLabelList"/>
    <dgm:cxn modelId="{D690F878-B6FB-48FB-9690-9F5FF8CF4A22}" type="presParOf" srcId="{E47E7097-A91E-4D56-A555-9282FB7F2667}" destId="{5BF2E4BA-1DE1-432D-B372-707F41160C39}" srcOrd="0" destOrd="0" presId="urn:microsoft.com/office/officeart/2018/5/layout/IconCircleLabelList"/>
    <dgm:cxn modelId="{E31D182D-FDAD-4806-B1FB-0753BBB79BD9}" type="presParOf" srcId="{5BF2E4BA-1DE1-432D-B372-707F41160C39}" destId="{9AB71417-1E0E-4311-A74F-65DCF4DDE474}" srcOrd="0" destOrd="0" presId="urn:microsoft.com/office/officeart/2018/5/layout/IconCircleLabelList"/>
    <dgm:cxn modelId="{B0B65CBC-28AC-4033-B40B-9EA75564928D}" type="presParOf" srcId="{5BF2E4BA-1DE1-432D-B372-707F41160C39}" destId="{C01F4487-A15D-4520-B982-40D874386A86}" srcOrd="1" destOrd="0" presId="urn:microsoft.com/office/officeart/2018/5/layout/IconCircleLabelList"/>
    <dgm:cxn modelId="{A6BFB39C-E96A-43D9-A881-FCF30A7B0502}" type="presParOf" srcId="{5BF2E4BA-1DE1-432D-B372-707F41160C39}" destId="{869A0397-C3A8-44A6-AE59-BA2672C4B97E}" srcOrd="2" destOrd="0" presId="urn:microsoft.com/office/officeart/2018/5/layout/IconCircleLabelList"/>
    <dgm:cxn modelId="{82E5FB78-4F87-4EBF-8884-5D56E12F48C2}" type="presParOf" srcId="{5BF2E4BA-1DE1-432D-B372-707F41160C39}" destId="{FCAF8D69-D57B-491A-81C4-4B58872CA0D6}" srcOrd="3" destOrd="0" presId="urn:microsoft.com/office/officeart/2018/5/layout/IconCircleLabelList"/>
    <dgm:cxn modelId="{5CF81D15-92A7-4669-A47A-5CF2366AA21E}" type="presParOf" srcId="{E47E7097-A91E-4D56-A555-9282FB7F2667}" destId="{28978BDB-E36C-446C-BBEF-C3CC34F12213}" srcOrd="1" destOrd="0" presId="urn:microsoft.com/office/officeart/2018/5/layout/IconCircleLabelList"/>
    <dgm:cxn modelId="{8725C31D-2D9E-4AB0-A375-7538C844E472}" type="presParOf" srcId="{E47E7097-A91E-4D56-A555-9282FB7F2667}" destId="{03C7C23E-BF58-46FD-99F7-8A427D6EF95B}" srcOrd="2" destOrd="0" presId="urn:microsoft.com/office/officeart/2018/5/layout/IconCircleLabelList"/>
    <dgm:cxn modelId="{2A2F2841-9255-4146-B648-68034DD095E7}" type="presParOf" srcId="{03C7C23E-BF58-46FD-99F7-8A427D6EF95B}" destId="{42DC4D21-F6F1-41BB-982F-EA1AE7ABA625}" srcOrd="0" destOrd="0" presId="urn:microsoft.com/office/officeart/2018/5/layout/IconCircleLabelList"/>
    <dgm:cxn modelId="{8FE6CF72-B4D0-442F-A914-5E50040880AE}" type="presParOf" srcId="{03C7C23E-BF58-46FD-99F7-8A427D6EF95B}" destId="{1A2F66EC-63DC-4816-B00E-762A1FEF5B59}" srcOrd="1" destOrd="0" presId="urn:microsoft.com/office/officeart/2018/5/layout/IconCircleLabelList"/>
    <dgm:cxn modelId="{881115B2-A64D-4E24-80A4-94777D62FD1F}" type="presParOf" srcId="{03C7C23E-BF58-46FD-99F7-8A427D6EF95B}" destId="{4DB9DA6A-6DBF-4B63-AF5A-B1002B10968F}" srcOrd="2" destOrd="0" presId="urn:microsoft.com/office/officeart/2018/5/layout/IconCircleLabelList"/>
    <dgm:cxn modelId="{A7C93610-192B-4B77-977E-B37E1C26D0F1}" type="presParOf" srcId="{03C7C23E-BF58-46FD-99F7-8A427D6EF95B}" destId="{CE206F44-0F5F-436F-A4B5-8C09BB8100D3}" srcOrd="3" destOrd="0" presId="urn:microsoft.com/office/officeart/2018/5/layout/IconCircleLabelList"/>
    <dgm:cxn modelId="{61C0C108-75DC-42DD-9051-38B8A8E46AC6}" type="presParOf" srcId="{E47E7097-A91E-4D56-A555-9282FB7F2667}" destId="{D8B357C7-5CE7-406A-9F6C-D97AD3A4FA43}" srcOrd="3" destOrd="0" presId="urn:microsoft.com/office/officeart/2018/5/layout/IconCircleLabelList"/>
    <dgm:cxn modelId="{44D73A37-6289-4C8F-9878-7DF44E5CE9B6}" type="presParOf" srcId="{E47E7097-A91E-4D56-A555-9282FB7F2667}" destId="{54EB24D9-9BDB-4005-8A51-0FAB0F6B59ED}" srcOrd="4" destOrd="0" presId="urn:microsoft.com/office/officeart/2018/5/layout/IconCircleLabelList"/>
    <dgm:cxn modelId="{088D4784-DC79-4442-ABC3-ECD93E1A592A}" type="presParOf" srcId="{54EB24D9-9BDB-4005-8A51-0FAB0F6B59ED}" destId="{5F522078-11AF-4F12-A838-0148EF27F10F}" srcOrd="0" destOrd="0" presId="urn:microsoft.com/office/officeart/2018/5/layout/IconCircleLabelList"/>
    <dgm:cxn modelId="{012FC7EA-653E-424B-966E-038F667DF0BF}" type="presParOf" srcId="{54EB24D9-9BDB-4005-8A51-0FAB0F6B59ED}" destId="{E933FBFD-4A72-4532-8A5D-E6FD74849054}" srcOrd="1" destOrd="0" presId="urn:microsoft.com/office/officeart/2018/5/layout/IconCircleLabelList"/>
    <dgm:cxn modelId="{805C3A47-23BB-4A1C-BFA1-10866C224B34}" type="presParOf" srcId="{54EB24D9-9BDB-4005-8A51-0FAB0F6B59ED}" destId="{62606B95-5E4B-4EFE-94B3-9773ECF3DF33}" srcOrd="2" destOrd="0" presId="urn:microsoft.com/office/officeart/2018/5/layout/IconCircleLabelList"/>
    <dgm:cxn modelId="{A69C2AAD-4CAD-41BF-BDBC-6A35162A6EB7}" type="presParOf" srcId="{54EB24D9-9BDB-4005-8A51-0FAB0F6B59ED}" destId="{E14E4056-886C-4C98-810B-6FE743029B52}" srcOrd="3" destOrd="0" presId="urn:microsoft.com/office/officeart/2018/5/layout/IconCircleLabelList"/>
    <dgm:cxn modelId="{0BAB3533-224D-4887-A8CE-9A1C192D654F}" type="presParOf" srcId="{E47E7097-A91E-4D56-A555-9282FB7F2667}" destId="{E23B91AA-A627-4696-BAAB-C00880B4007E}" srcOrd="5" destOrd="0" presId="urn:microsoft.com/office/officeart/2018/5/layout/IconCircleLabelList"/>
    <dgm:cxn modelId="{9FA29FA6-6303-44B6-82FA-1AE29E5B907C}" type="presParOf" srcId="{E47E7097-A91E-4D56-A555-9282FB7F2667}" destId="{9159EDBA-162F-43B6-82EC-9DD39D59483D}" srcOrd="6" destOrd="0" presId="urn:microsoft.com/office/officeart/2018/5/layout/IconCircleLabelList"/>
    <dgm:cxn modelId="{749E7596-29FF-4744-B71E-C49861285C69}" type="presParOf" srcId="{9159EDBA-162F-43B6-82EC-9DD39D59483D}" destId="{C94D9F51-BAB4-433C-A030-44A9EC5E45A2}" srcOrd="0" destOrd="0" presId="urn:microsoft.com/office/officeart/2018/5/layout/IconCircleLabelList"/>
    <dgm:cxn modelId="{F59808E1-AAD1-4439-9395-4D09F7CCD43B}" type="presParOf" srcId="{9159EDBA-162F-43B6-82EC-9DD39D59483D}" destId="{326B49E3-0B51-4BF4-B9F6-C1088454B5C4}" srcOrd="1" destOrd="0" presId="urn:microsoft.com/office/officeart/2018/5/layout/IconCircleLabelList"/>
    <dgm:cxn modelId="{3C934F17-C622-4802-AE49-7A567F9019F4}" type="presParOf" srcId="{9159EDBA-162F-43B6-82EC-9DD39D59483D}" destId="{E790D657-433D-4DF9-87A8-E4315E4D0AB9}" srcOrd="2" destOrd="0" presId="urn:microsoft.com/office/officeart/2018/5/layout/IconCircleLabelList"/>
    <dgm:cxn modelId="{AF256059-4B4D-4931-8CC1-D1DBC1B18AED}" type="presParOf" srcId="{9159EDBA-162F-43B6-82EC-9DD39D59483D}" destId="{F248ACE5-7403-4077-A702-01B1E803CF28}" srcOrd="3" destOrd="0" presId="urn:microsoft.com/office/officeart/2018/5/layout/IconCircleLabelList"/>
    <dgm:cxn modelId="{04D98ED2-3162-4BB5-9ECF-DB9A504E7349}" type="presParOf" srcId="{E47E7097-A91E-4D56-A555-9282FB7F2667}" destId="{134FCE3B-A549-4A95-B581-78216210D56B}" srcOrd="7" destOrd="0" presId="urn:microsoft.com/office/officeart/2018/5/layout/IconCircleLabelList"/>
    <dgm:cxn modelId="{9DBB7420-791B-4B85-AB55-2A1AB0E1B316}" type="presParOf" srcId="{E47E7097-A91E-4D56-A555-9282FB7F2667}" destId="{5B85BE4B-2364-4ECE-B64F-61AD609F8176}" srcOrd="8" destOrd="0" presId="urn:microsoft.com/office/officeart/2018/5/layout/IconCircleLabelList"/>
    <dgm:cxn modelId="{2FB1A5CA-6868-4C10-B73C-86F1023C4DDB}" type="presParOf" srcId="{5B85BE4B-2364-4ECE-B64F-61AD609F8176}" destId="{AA7E73DD-16B6-46FF-8EE4-AC21E48E5364}" srcOrd="0" destOrd="0" presId="urn:microsoft.com/office/officeart/2018/5/layout/IconCircleLabelList"/>
    <dgm:cxn modelId="{6140DA56-9710-4292-847B-B8D3D9FC819B}" type="presParOf" srcId="{5B85BE4B-2364-4ECE-B64F-61AD609F8176}" destId="{484E848D-067E-422C-8FC5-961B04DD3396}" srcOrd="1" destOrd="0" presId="urn:microsoft.com/office/officeart/2018/5/layout/IconCircleLabelList"/>
    <dgm:cxn modelId="{0DC984E1-6A9D-43BB-A177-E09B00AF3479}" type="presParOf" srcId="{5B85BE4B-2364-4ECE-B64F-61AD609F8176}" destId="{D76E1EC0-7E9D-44C6-BAD2-3037793AEDE5}" srcOrd="2" destOrd="0" presId="urn:microsoft.com/office/officeart/2018/5/layout/IconCircleLabelList"/>
    <dgm:cxn modelId="{EB70DCA1-E7E2-4A71-84AA-135B7D09FC8B}" type="presParOf" srcId="{5B85BE4B-2364-4ECE-B64F-61AD609F8176}" destId="{02FDAE5A-47EB-4201-924C-325D31D5BA8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BB1320-E9F5-4DC4-94E9-9749B3241E1C}"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6C787198-CF36-46EB-9F83-E1FAE24BA436}">
      <dgm:prSet/>
      <dgm:spPr/>
      <dgm:t>
        <a:bodyPr/>
        <a:lstStyle/>
        <a:p>
          <a:r>
            <a:rPr lang="en-GB" b="1"/>
            <a:t>Encapsulation: </a:t>
          </a:r>
          <a:r>
            <a:rPr lang="en-GB"/>
            <a:t>We protected our data integrity by strictly using private fields in domain entities like Patient and Medicine. External classes cannot modify a patient's data directly; they must use controlled public methods. We also encapsulated the active user state securely within the SessionManager.</a:t>
          </a:r>
          <a:endParaRPr lang="en-US"/>
        </a:p>
      </dgm:t>
    </dgm:pt>
    <dgm:pt modelId="{528196A9-956C-4BCF-8CE6-8BC71DDF2265}" type="parTrans" cxnId="{655CA3C5-7184-4FEB-B9AF-AB5957A6583D}">
      <dgm:prSet/>
      <dgm:spPr/>
      <dgm:t>
        <a:bodyPr/>
        <a:lstStyle/>
        <a:p>
          <a:endParaRPr lang="en-US"/>
        </a:p>
      </dgm:t>
    </dgm:pt>
    <dgm:pt modelId="{9037F6C0-BCF7-48EF-8F5B-C479B9B145EC}" type="sibTrans" cxnId="{655CA3C5-7184-4FEB-B9AF-AB5957A6583D}">
      <dgm:prSet/>
      <dgm:spPr/>
      <dgm:t>
        <a:bodyPr/>
        <a:lstStyle/>
        <a:p>
          <a:endParaRPr lang="en-US"/>
        </a:p>
      </dgm:t>
    </dgm:pt>
    <dgm:pt modelId="{A4EE36B3-8E6C-4A9C-BD2C-2AE11C8F76C9}">
      <dgm:prSet/>
      <dgm:spPr/>
      <dgm:t>
        <a:bodyPr/>
        <a:lstStyle/>
        <a:p>
          <a:r>
            <a:rPr lang="en-GB" b="1"/>
            <a:t>Abstraction: </a:t>
          </a:r>
          <a:r>
            <a:rPr lang="en-GB"/>
            <a:t>We abstracted away low-level system complexities from our main application flow. For example, our controllers simply call a high-level BackupService.generateBackup() method, remaining completely unaware of the complex file serialization and data compression happening behind the scenes.</a:t>
          </a:r>
          <a:endParaRPr lang="en-US"/>
        </a:p>
      </dgm:t>
    </dgm:pt>
    <dgm:pt modelId="{D37B6C0F-3AD1-4749-A7D4-58220E63D69B}" type="parTrans" cxnId="{D175DCCE-5F21-4FF6-B114-594F4DF02096}">
      <dgm:prSet/>
      <dgm:spPr/>
      <dgm:t>
        <a:bodyPr/>
        <a:lstStyle/>
        <a:p>
          <a:endParaRPr lang="en-US"/>
        </a:p>
      </dgm:t>
    </dgm:pt>
    <dgm:pt modelId="{BCB7C1D0-0CEA-4C42-815C-9C3A1E0C4F56}" type="sibTrans" cxnId="{D175DCCE-5F21-4FF6-B114-594F4DF02096}">
      <dgm:prSet/>
      <dgm:spPr/>
      <dgm:t>
        <a:bodyPr/>
        <a:lstStyle/>
        <a:p>
          <a:endParaRPr lang="en-US"/>
        </a:p>
      </dgm:t>
    </dgm:pt>
    <dgm:pt modelId="{D5D79602-15BE-463B-81C1-B42A82E5076F}" type="pres">
      <dgm:prSet presAssocID="{75BB1320-E9F5-4DC4-94E9-9749B3241E1C}" presName="hierChild1" presStyleCnt="0">
        <dgm:presLayoutVars>
          <dgm:chPref val="1"/>
          <dgm:dir/>
          <dgm:animOne val="branch"/>
          <dgm:animLvl val="lvl"/>
          <dgm:resizeHandles/>
        </dgm:presLayoutVars>
      </dgm:prSet>
      <dgm:spPr/>
    </dgm:pt>
    <dgm:pt modelId="{4ACA6478-6086-4D5C-A219-3BB2C66EB80F}" type="pres">
      <dgm:prSet presAssocID="{6C787198-CF36-46EB-9F83-E1FAE24BA436}" presName="hierRoot1" presStyleCnt="0"/>
      <dgm:spPr/>
    </dgm:pt>
    <dgm:pt modelId="{C850E6F8-8C13-4743-B081-99A026E9352B}" type="pres">
      <dgm:prSet presAssocID="{6C787198-CF36-46EB-9F83-E1FAE24BA436}" presName="composite" presStyleCnt="0"/>
      <dgm:spPr/>
    </dgm:pt>
    <dgm:pt modelId="{82A4A591-74BF-4050-AC71-61C2A807B769}" type="pres">
      <dgm:prSet presAssocID="{6C787198-CF36-46EB-9F83-E1FAE24BA436}" presName="background" presStyleLbl="node0" presStyleIdx="0" presStyleCnt="2"/>
      <dgm:spPr/>
    </dgm:pt>
    <dgm:pt modelId="{7A96CCA9-B049-4053-B826-6A0D5AC3671E}" type="pres">
      <dgm:prSet presAssocID="{6C787198-CF36-46EB-9F83-E1FAE24BA436}" presName="text" presStyleLbl="fgAcc0" presStyleIdx="0" presStyleCnt="2">
        <dgm:presLayoutVars>
          <dgm:chPref val="3"/>
        </dgm:presLayoutVars>
      </dgm:prSet>
      <dgm:spPr/>
    </dgm:pt>
    <dgm:pt modelId="{F2AA255B-9D3A-4F83-99C9-C1C7D43B81EC}" type="pres">
      <dgm:prSet presAssocID="{6C787198-CF36-46EB-9F83-E1FAE24BA436}" presName="hierChild2" presStyleCnt="0"/>
      <dgm:spPr/>
    </dgm:pt>
    <dgm:pt modelId="{A6806359-5536-4B44-90A1-BC24CA51E79C}" type="pres">
      <dgm:prSet presAssocID="{A4EE36B3-8E6C-4A9C-BD2C-2AE11C8F76C9}" presName="hierRoot1" presStyleCnt="0"/>
      <dgm:spPr/>
    </dgm:pt>
    <dgm:pt modelId="{46A5DB90-98BD-4D30-BFA7-DF4144B31912}" type="pres">
      <dgm:prSet presAssocID="{A4EE36B3-8E6C-4A9C-BD2C-2AE11C8F76C9}" presName="composite" presStyleCnt="0"/>
      <dgm:spPr/>
    </dgm:pt>
    <dgm:pt modelId="{1E705099-9E26-4B4C-876E-DE6D090ABDE7}" type="pres">
      <dgm:prSet presAssocID="{A4EE36B3-8E6C-4A9C-BD2C-2AE11C8F76C9}" presName="background" presStyleLbl="node0" presStyleIdx="1" presStyleCnt="2"/>
      <dgm:spPr/>
    </dgm:pt>
    <dgm:pt modelId="{347FAC66-40E3-47B7-AF0C-44CD9DAB2566}" type="pres">
      <dgm:prSet presAssocID="{A4EE36B3-8E6C-4A9C-BD2C-2AE11C8F76C9}" presName="text" presStyleLbl="fgAcc0" presStyleIdx="1" presStyleCnt="2">
        <dgm:presLayoutVars>
          <dgm:chPref val="3"/>
        </dgm:presLayoutVars>
      </dgm:prSet>
      <dgm:spPr/>
    </dgm:pt>
    <dgm:pt modelId="{7F04ED8C-130A-49CD-A759-CA350BB1C7BB}" type="pres">
      <dgm:prSet presAssocID="{A4EE36B3-8E6C-4A9C-BD2C-2AE11C8F76C9}" presName="hierChild2" presStyleCnt="0"/>
      <dgm:spPr/>
    </dgm:pt>
  </dgm:ptLst>
  <dgm:cxnLst>
    <dgm:cxn modelId="{E425C020-B8CF-49DE-82BA-1E6C1B443FC4}" type="presOf" srcId="{A4EE36B3-8E6C-4A9C-BD2C-2AE11C8F76C9}" destId="{347FAC66-40E3-47B7-AF0C-44CD9DAB2566}" srcOrd="0" destOrd="0" presId="urn:microsoft.com/office/officeart/2005/8/layout/hierarchy1"/>
    <dgm:cxn modelId="{B0899124-93D4-4DC8-9169-F99B6F48501C}" type="presOf" srcId="{75BB1320-E9F5-4DC4-94E9-9749B3241E1C}" destId="{D5D79602-15BE-463B-81C1-B42A82E5076F}" srcOrd="0" destOrd="0" presId="urn:microsoft.com/office/officeart/2005/8/layout/hierarchy1"/>
    <dgm:cxn modelId="{F441DBC4-7E0F-4792-ADC1-8C2660CE5F75}" type="presOf" srcId="{6C787198-CF36-46EB-9F83-E1FAE24BA436}" destId="{7A96CCA9-B049-4053-B826-6A0D5AC3671E}" srcOrd="0" destOrd="0" presId="urn:microsoft.com/office/officeart/2005/8/layout/hierarchy1"/>
    <dgm:cxn modelId="{655CA3C5-7184-4FEB-B9AF-AB5957A6583D}" srcId="{75BB1320-E9F5-4DC4-94E9-9749B3241E1C}" destId="{6C787198-CF36-46EB-9F83-E1FAE24BA436}" srcOrd="0" destOrd="0" parTransId="{528196A9-956C-4BCF-8CE6-8BC71DDF2265}" sibTransId="{9037F6C0-BCF7-48EF-8F5B-C479B9B145EC}"/>
    <dgm:cxn modelId="{D175DCCE-5F21-4FF6-B114-594F4DF02096}" srcId="{75BB1320-E9F5-4DC4-94E9-9749B3241E1C}" destId="{A4EE36B3-8E6C-4A9C-BD2C-2AE11C8F76C9}" srcOrd="1" destOrd="0" parTransId="{D37B6C0F-3AD1-4749-A7D4-58220E63D69B}" sibTransId="{BCB7C1D0-0CEA-4C42-815C-9C3A1E0C4F56}"/>
    <dgm:cxn modelId="{DDA712F9-3B49-4358-8854-9A5A191391ED}" type="presParOf" srcId="{D5D79602-15BE-463B-81C1-B42A82E5076F}" destId="{4ACA6478-6086-4D5C-A219-3BB2C66EB80F}" srcOrd="0" destOrd="0" presId="urn:microsoft.com/office/officeart/2005/8/layout/hierarchy1"/>
    <dgm:cxn modelId="{B0EF1D23-20BC-41DD-9004-E10C6C51674D}" type="presParOf" srcId="{4ACA6478-6086-4D5C-A219-3BB2C66EB80F}" destId="{C850E6F8-8C13-4743-B081-99A026E9352B}" srcOrd="0" destOrd="0" presId="urn:microsoft.com/office/officeart/2005/8/layout/hierarchy1"/>
    <dgm:cxn modelId="{48A6182F-8F76-4701-88E0-BA57F807CD52}" type="presParOf" srcId="{C850E6F8-8C13-4743-B081-99A026E9352B}" destId="{82A4A591-74BF-4050-AC71-61C2A807B769}" srcOrd="0" destOrd="0" presId="urn:microsoft.com/office/officeart/2005/8/layout/hierarchy1"/>
    <dgm:cxn modelId="{301BC918-743C-40FD-9B53-DCDE9963E90B}" type="presParOf" srcId="{C850E6F8-8C13-4743-B081-99A026E9352B}" destId="{7A96CCA9-B049-4053-B826-6A0D5AC3671E}" srcOrd="1" destOrd="0" presId="urn:microsoft.com/office/officeart/2005/8/layout/hierarchy1"/>
    <dgm:cxn modelId="{4C53E339-AF70-42DA-B508-54E36CD5EF87}" type="presParOf" srcId="{4ACA6478-6086-4D5C-A219-3BB2C66EB80F}" destId="{F2AA255B-9D3A-4F83-99C9-C1C7D43B81EC}" srcOrd="1" destOrd="0" presId="urn:microsoft.com/office/officeart/2005/8/layout/hierarchy1"/>
    <dgm:cxn modelId="{3131CC40-78E2-41FA-9B07-CF164306F20F}" type="presParOf" srcId="{D5D79602-15BE-463B-81C1-B42A82E5076F}" destId="{A6806359-5536-4B44-90A1-BC24CA51E79C}" srcOrd="1" destOrd="0" presId="urn:microsoft.com/office/officeart/2005/8/layout/hierarchy1"/>
    <dgm:cxn modelId="{BB91F874-24F6-4D16-B2FB-791B2AE22853}" type="presParOf" srcId="{A6806359-5536-4B44-90A1-BC24CA51E79C}" destId="{46A5DB90-98BD-4D30-BFA7-DF4144B31912}" srcOrd="0" destOrd="0" presId="urn:microsoft.com/office/officeart/2005/8/layout/hierarchy1"/>
    <dgm:cxn modelId="{EDD6873F-A05C-4D07-8768-732F7137E400}" type="presParOf" srcId="{46A5DB90-98BD-4D30-BFA7-DF4144B31912}" destId="{1E705099-9E26-4B4C-876E-DE6D090ABDE7}" srcOrd="0" destOrd="0" presId="urn:microsoft.com/office/officeart/2005/8/layout/hierarchy1"/>
    <dgm:cxn modelId="{405A63D5-D249-4780-8D84-C05355133977}" type="presParOf" srcId="{46A5DB90-98BD-4D30-BFA7-DF4144B31912}" destId="{347FAC66-40E3-47B7-AF0C-44CD9DAB2566}" srcOrd="1" destOrd="0" presId="urn:microsoft.com/office/officeart/2005/8/layout/hierarchy1"/>
    <dgm:cxn modelId="{7C8302AF-86B4-4709-B9EF-4300C3604166}" type="presParOf" srcId="{A6806359-5536-4B44-90A1-BC24CA51E79C}" destId="{7F04ED8C-130A-49CD-A759-CA350BB1C7B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A8287-6C59-46BA-8707-E7E9A3C4EEEE}">
      <dsp:nvSpPr>
        <dsp:cNvPr id="0" name=""/>
        <dsp:cNvSpPr/>
      </dsp:nvSpPr>
      <dsp:spPr>
        <a:xfrm>
          <a:off x="0" y="55628"/>
          <a:ext cx="10515600" cy="1003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Patients manage health data across disconnected systems (paper prescriptions, physical folders, scattered apps).</a:t>
          </a:r>
        </a:p>
      </dsp:txBody>
      <dsp:txXfrm>
        <a:off x="49004" y="104632"/>
        <a:ext cx="10417592" cy="905852"/>
      </dsp:txXfrm>
    </dsp:sp>
    <dsp:sp modelId="{9D69F3CB-33CF-443F-B2CF-C192DC60DED6}">
      <dsp:nvSpPr>
        <dsp:cNvPr id="0" name=""/>
        <dsp:cNvSpPr/>
      </dsp:nvSpPr>
      <dsp:spPr>
        <a:xfrm>
          <a:off x="0" y="1134369"/>
          <a:ext cx="10515600" cy="1003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This leads to poor medication adherence and accidental drug interactions.</a:t>
          </a:r>
        </a:p>
      </dsp:txBody>
      <dsp:txXfrm>
        <a:off x="49004" y="1183373"/>
        <a:ext cx="10417592" cy="905852"/>
      </dsp:txXfrm>
    </dsp:sp>
    <dsp:sp modelId="{501177AC-875E-4BAB-9492-7232DDDA02C9}">
      <dsp:nvSpPr>
        <dsp:cNvPr id="0" name=""/>
        <dsp:cNvSpPr/>
      </dsp:nvSpPr>
      <dsp:spPr>
        <a:xfrm>
          <a:off x="0" y="2213109"/>
          <a:ext cx="10515600" cy="1003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In medical emergencies, critical data (blood type, allergies, active meds) is rarely accessible instantly.</a:t>
          </a:r>
        </a:p>
      </dsp:txBody>
      <dsp:txXfrm>
        <a:off x="49004" y="2262113"/>
        <a:ext cx="10417592" cy="905852"/>
      </dsp:txXfrm>
    </dsp:sp>
    <dsp:sp modelId="{857580EE-3F56-49F9-9E9D-9B2A835DB9F1}">
      <dsp:nvSpPr>
        <dsp:cNvPr id="0" name=""/>
        <dsp:cNvSpPr/>
      </dsp:nvSpPr>
      <dsp:spPr>
        <a:xfrm>
          <a:off x="0" y="3291849"/>
          <a:ext cx="10515600" cy="10038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Current Health Management systems, have become a centralized target for cybercriminals.</a:t>
          </a:r>
        </a:p>
      </dsp:txBody>
      <dsp:txXfrm>
        <a:off x="49004" y="3340853"/>
        <a:ext cx="10417592" cy="9058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FC2F0A-1BAC-4EB1-82BE-C4E69EF85F5B}">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FAE8DA-A7E1-4D97-8F19-156D9E2C9A32}">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A centralized, desktop-based digital hub for personal health management</a:t>
          </a:r>
          <a:r>
            <a:rPr lang="en-US" sz="1700" kern="1200" dirty="0"/>
            <a:t>.</a:t>
          </a:r>
        </a:p>
      </dsp:txBody>
      <dsp:txXfrm>
        <a:off x="59990" y="2654049"/>
        <a:ext cx="3226223" cy="720000"/>
      </dsp:txXfrm>
    </dsp:sp>
    <dsp:sp modelId="{FB893823-9F77-4293-82CE-9F52FAA61774}">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44701C-CDD3-4C41-90E2-859D7A1FC1BE}">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Empowers patients to consolidate medication, daily vitals, and physical medical records.</a:t>
          </a:r>
        </a:p>
      </dsp:txBody>
      <dsp:txXfrm>
        <a:off x="3850802" y="2654049"/>
        <a:ext cx="3226223" cy="720000"/>
      </dsp:txXfrm>
    </dsp:sp>
    <dsp:sp modelId="{E8C87887-9EC0-4B4B-B94A-6AE9FF039223}">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D59466-FD94-4542-B4EA-210CB82E01B4}">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Operates completely offline, ensuring privacy and immediate access to life-saving data.</a:t>
          </a:r>
        </a:p>
      </dsp:txBody>
      <dsp:txXfrm>
        <a:off x="7641615" y="2654049"/>
        <a:ext cx="3226223"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B71417-1E0E-4311-A74F-65DCF4DDE474}">
      <dsp:nvSpPr>
        <dsp:cNvPr id="0" name=""/>
        <dsp:cNvSpPr/>
      </dsp:nvSpPr>
      <dsp:spPr>
        <a:xfrm>
          <a:off x="684914" y="5889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1F4487-A15D-4520-B982-40D874386A86}">
      <dsp:nvSpPr>
        <dsp:cNvPr id="0" name=""/>
        <dsp:cNvSpPr/>
      </dsp:nvSpPr>
      <dsp:spPr>
        <a:xfrm>
          <a:off x="918914" y="8229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AF8D69-D57B-491A-81C4-4B58872CA0D6}">
      <dsp:nvSpPr>
        <dsp:cNvPr id="0" name=""/>
        <dsp:cNvSpPr/>
      </dsp:nvSpPr>
      <dsp:spPr>
        <a:xfrm>
          <a:off x="333914" y="2028902"/>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cap="all"/>
          </a:pPr>
          <a:r>
            <a:rPr lang="en-US" sz="1600" b="1" kern="1200" dirty="0">
              <a:latin typeface="Times New Roman" panose="02020603050405020304" pitchFamily="18" charset="0"/>
              <a:cs typeface="Times New Roman" panose="02020603050405020304" pitchFamily="18" charset="0"/>
            </a:rPr>
            <a:t>Medication &amp; Interaction Tracking</a:t>
          </a:r>
        </a:p>
        <a:p>
          <a:pPr marL="0" lvl="0" indent="0" algn="ctr" defTabSz="711200">
            <a:lnSpc>
              <a:spcPct val="90000"/>
            </a:lnSpc>
            <a:spcBef>
              <a:spcPct val="0"/>
            </a:spcBef>
            <a:spcAft>
              <a:spcPct val="35000"/>
            </a:spcAft>
            <a:buNone/>
            <a:defRPr cap="all"/>
          </a:pPr>
          <a:r>
            <a:rPr lang="en-US" sz="1600" b="1" kern="1200" dirty="0">
              <a:latin typeface="Times New Roman" panose="02020603050405020304" pitchFamily="18" charset="0"/>
              <a:cs typeface="Times New Roman" panose="02020603050405020304" pitchFamily="18" charset="0"/>
            </a:rPr>
            <a:t>m</a:t>
          </a:r>
          <a:r>
            <a:rPr lang="en-US" sz="1600" kern="1200" cap="none" dirty="0">
              <a:latin typeface="Times New Roman" panose="02020603050405020304" pitchFamily="18" charset="0"/>
              <a:cs typeface="Times New Roman" panose="02020603050405020304" pitchFamily="18" charset="0"/>
            </a:rPr>
            <a:t>anages inventory and alerts users to dangerous drug interactions.</a:t>
          </a:r>
          <a:endParaRPr lang="en-US" sz="1600" kern="1200" dirty="0">
            <a:latin typeface="Times New Roman" panose="02020603050405020304" pitchFamily="18" charset="0"/>
            <a:cs typeface="Times New Roman" panose="02020603050405020304" pitchFamily="18" charset="0"/>
          </a:endParaRPr>
        </a:p>
      </dsp:txBody>
      <dsp:txXfrm>
        <a:off x="333914" y="2028902"/>
        <a:ext cx="1800000" cy="1575000"/>
      </dsp:txXfrm>
    </dsp:sp>
    <dsp:sp modelId="{42DC4D21-F6F1-41BB-982F-EA1AE7ABA625}">
      <dsp:nvSpPr>
        <dsp:cNvPr id="0" name=""/>
        <dsp:cNvSpPr/>
      </dsp:nvSpPr>
      <dsp:spPr>
        <a:xfrm>
          <a:off x="2799914" y="5889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2F66EC-63DC-4816-B00E-762A1FEF5B59}">
      <dsp:nvSpPr>
        <dsp:cNvPr id="0" name=""/>
        <dsp:cNvSpPr/>
      </dsp:nvSpPr>
      <dsp:spPr>
        <a:xfrm>
          <a:off x="3033914" y="8229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206F44-0F5F-436F-A4B5-8C09BB8100D3}">
      <dsp:nvSpPr>
        <dsp:cNvPr id="0" name=""/>
        <dsp:cNvSpPr/>
      </dsp:nvSpPr>
      <dsp:spPr>
        <a:xfrm>
          <a:off x="2448914" y="2028902"/>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dirty="0">
              <a:latin typeface="Times New Roman" panose="02020603050405020304" pitchFamily="18" charset="0"/>
              <a:cs typeface="Times New Roman" panose="02020603050405020304" pitchFamily="18" charset="0"/>
            </a:rPr>
            <a:t>Comprehensive Health Logs</a:t>
          </a:r>
          <a:endParaRPr lang="en-US" sz="1500" b="1" kern="1200" cap="none" dirty="0">
            <a:latin typeface="Times New Roman" panose="02020603050405020304" pitchFamily="18" charset="0"/>
            <a:cs typeface="Times New Roman" panose="02020603050405020304" pitchFamily="18" charset="0"/>
          </a:endParaRPr>
        </a:p>
        <a:p>
          <a:pPr marL="0" lvl="0" indent="0" algn="ctr" defTabSz="666750">
            <a:lnSpc>
              <a:spcPct val="90000"/>
            </a:lnSpc>
            <a:spcBef>
              <a:spcPct val="0"/>
            </a:spcBef>
            <a:spcAft>
              <a:spcPct val="35000"/>
            </a:spcAft>
            <a:buNone/>
            <a:defRPr cap="all"/>
          </a:pPr>
          <a:r>
            <a:rPr lang="en-US" sz="1500" kern="1200" cap="none" dirty="0">
              <a:latin typeface="Times New Roman" panose="02020603050405020304" pitchFamily="18" charset="0"/>
              <a:cs typeface="Times New Roman" panose="02020603050405020304" pitchFamily="18" charset="0"/>
            </a:rPr>
            <a:t>Tracks vitals, diet, weight, hydration, and daily symptoms</a:t>
          </a:r>
          <a:r>
            <a:rPr lang="en-US" sz="1500" kern="1200" dirty="0">
              <a:latin typeface="Times New Roman" panose="02020603050405020304" pitchFamily="18" charset="0"/>
              <a:cs typeface="Times New Roman" panose="02020603050405020304" pitchFamily="18" charset="0"/>
            </a:rPr>
            <a:t>.</a:t>
          </a:r>
        </a:p>
      </dsp:txBody>
      <dsp:txXfrm>
        <a:off x="2448914" y="2028902"/>
        <a:ext cx="1800000" cy="1575000"/>
      </dsp:txXfrm>
    </dsp:sp>
    <dsp:sp modelId="{5F522078-11AF-4F12-A838-0148EF27F10F}">
      <dsp:nvSpPr>
        <dsp:cNvPr id="0" name=""/>
        <dsp:cNvSpPr/>
      </dsp:nvSpPr>
      <dsp:spPr>
        <a:xfrm>
          <a:off x="4914914" y="5889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33FBFD-4A72-4532-8A5D-E6FD74849054}">
      <dsp:nvSpPr>
        <dsp:cNvPr id="0" name=""/>
        <dsp:cNvSpPr/>
      </dsp:nvSpPr>
      <dsp:spPr>
        <a:xfrm>
          <a:off x="5148914" y="8229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4E4056-886C-4C98-810B-6FE743029B52}">
      <dsp:nvSpPr>
        <dsp:cNvPr id="0" name=""/>
        <dsp:cNvSpPr/>
      </dsp:nvSpPr>
      <dsp:spPr>
        <a:xfrm>
          <a:off x="4563914" y="2028902"/>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dirty="0">
              <a:latin typeface="Times New Roman" panose="02020603050405020304" pitchFamily="18" charset="0"/>
              <a:cs typeface="Times New Roman" panose="02020603050405020304" pitchFamily="18" charset="0"/>
            </a:rPr>
            <a:t>Emergency Protocol </a:t>
          </a:r>
        </a:p>
        <a:p>
          <a:pPr marL="0" lvl="0" indent="0" algn="ctr" defTabSz="666750">
            <a:lnSpc>
              <a:spcPct val="90000"/>
            </a:lnSpc>
            <a:spcBef>
              <a:spcPct val="0"/>
            </a:spcBef>
            <a:spcAft>
              <a:spcPct val="35000"/>
            </a:spcAft>
            <a:buNone/>
            <a:defRPr cap="all"/>
          </a:pPr>
          <a:r>
            <a:rPr lang="en-US" sz="1500" kern="1200" cap="none" dirty="0">
              <a:latin typeface="Times New Roman" panose="02020603050405020304" pitchFamily="18" charset="0"/>
              <a:cs typeface="Times New Roman" panose="02020603050405020304" pitchFamily="18" charset="0"/>
            </a:rPr>
            <a:t>One-click generation of a life-saving profile.</a:t>
          </a:r>
        </a:p>
      </dsp:txBody>
      <dsp:txXfrm>
        <a:off x="4563914" y="2028902"/>
        <a:ext cx="1800000" cy="1575000"/>
      </dsp:txXfrm>
    </dsp:sp>
    <dsp:sp modelId="{C94D9F51-BAB4-433C-A030-44A9EC5E45A2}">
      <dsp:nvSpPr>
        <dsp:cNvPr id="0" name=""/>
        <dsp:cNvSpPr/>
      </dsp:nvSpPr>
      <dsp:spPr>
        <a:xfrm>
          <a:off x="7029914" y="5889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6B49E3-0B51-4BF4-B9F6-C1088454B5C4}">
      <dsp:nvSpPr>
        <dsp:cNvPr id="0" name=""/>
        <dsp:cNvSpPr/>
      </dsp:nvSpPr>
      <dsp:spPr>
        <a:xfrm>
          <a:off x="7263914" y="8229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48ACE5-7403-4077-A702-01B1E803CF28}">
      <dsp:nvSpPr>
        <dsp:cNvPr id="0" name=""/>
        <dsp:cNvSpPr/>
      </dsp:nvSpPr>
      <dsp:spPr>
        <a:xfrm>
          <a:off x="6678914" y="2028902"/>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dirty="0">
              <a:latin typeface="Times New Roman" panose="02020603050405020304" pitchFamily="18" charset="0"/>
              <a:cs typeface="Times New Roman" panose="02020603050405020304" pitchFamily="18" charset="0"/>
            </a:rPr>
            <a:t>Record Organization</a:t>
          </a:r>
        </a:p>
        <a:p>
          <a:pPr marL="0" lvl="0" indent="0" algn="ctr" defTabSz="666750">
            <a:lnSpc>
              <a:spcPct val="90000"/>
            </a:lnSpc>
            <a:spcBef>
              <a:spcPct val="0"/>
            </a:spcBef>
            <a:spcAft>
              <a:spcPct val="35000"/>
            </a:spcAft>
            <a:buNone/>
            <a:defRPr cap="all"/>
          </a:pPr>
          <a:r>
            <a:rPr lang="en-US" sz="1500" b="1" kern="1200" dirty="0">
              <a:latin typeface="Times New Roman" panose="02020603050405020304" pitchFamily="18" charset="0"/>
              <a:cs typeface="Times New Roman" panose="02020603050405020304" pitchFamily="18" charset="0"/>
            </a:rPr>
            <a:t> D</a:t>
          </a:r>
          <a:r>
            <a:rPr lang="en-US" sz="1500" kern="1200" cap="none" dirty="0">
              <a:latin typeface="Times New Roman" panose="02020603050405020304" pitchFamily="18" charset="0"/>
              <a:cs typeface="Times New Roman" panose="02020603050405020304" pitchFamily="18" charset="0"/>
            </a:rPr>
            <a:t>igitizes and categorizes physical medical files (pdfs/images).</a:t>
          </a:r>
          <a:endParaRPr lang="en-US" sz="1500" kern="1200" dirty="0">
            <a:latin typeface="Times New Roman" panose="02020603050405020304" pitchFamily="18" charset="0"/>
            <a:cs typeface="Times New Roman" panose="02020603050405020304" pitchFamily="18" charset="0"/>
          </a:endParaRPr>
        </a:p>
      </dsp:txBody>
      <dsp:txXfrm>
        <a:off x="6678914" y="2028902"/>
        <a:ext cx="1800000" cy="1575000"/>
      </dsp:txXfrm>
    </dsp:sp>
    <dsp:sp modelId="{AA7E73DD-16B6-46FF-8EE4-AC21E48E5364}">
      <dsp:nvSpPr>
        <dsp:cNvPr id="0" name=""/>
        <dsp:cNvSpPr/>
      </dsp:nvSpPr>
      <dsp:spPr>
        <a:xfrm>
          <a:off x="9144914" y="588902"/>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4E848D-067E-422C-8FC5-961B04DD3396}">
      <dsp:nvSpPr>
        <dsp:cNvPr id="0" name=""/>
        <dsp:cNvSpPr/>
      </dsp:nvSpPr>
      <dsp:spPr>
        <a:xfrm>
          <a:off x="9378914" y="8229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FDAE5A-47EB-4201-924C-325D31D5BA86}">
      <dsp:nvSpPr>
        <dsp:cNvPr id="0" name=""/>
        <dsp:cNvSpPr/>
      </dsp:nvSpPr>
      <dsp:spPr>
        <a:xfrm>
          <a:off x="8793914" y="2028902"/>
          <a:ext cx="1800000" cy="157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1" kern="1200" dirty="0">
              <a:latin typeface="Times New Roman" panose="02020603050405020304" pitchFamily="18" charset="0"/>
              <a:cs typeface="Times New Roman" panose="02020603050405020304" pitchFamily="18" charset="0"/>
            </a:rPr>
            <a:t>Analytics &amp; Reporting</a:t>
          </a:r>
        </a:p>
        <a:p>
          <a:pPr marL="0" lvl="0" indent="0" algn="ctr" defTabSz="666750">
            <a:lnSpc>
              <a:spcPct val="90000"/>
            </a:lnSpc>
            <a:spcBef>
              <a:spcPct val="0"/>
            </a:spcBef>
            <a:spcAft>
              <a:spcPct val="35000"/>
            </a:spcAft>
            <a:buNone/>
            <a:defRPr cap="all"/>
          </a:pPr>
          <a:r>
            <a:rPr lang="en-US" sz="1500" b="1" kern="1200" dirty="0">
              <a:latin typeface="Times New Roman" panose="02020603050405020304" pitchFamily="18" charset="0"/>
              <a:cs typeface="Times New Roman" panose="02020603050405020304" pitchFamily="18" charset="0"/>
            </a:rPr>
            <a:t> G</a:t>
          </a:r>
          <a:r>
            <a:rPr lang="en-US" sz="1500" kern="1200" cap="none" dirty="0">
              <a:latin typeface="Times New Roman" panose="02020603050405020304" pitchFamily="18" charset="0"/>
              <a:cs typeface="Times New Roman" panose="02020603050405020304" pitchFamily="18" charset="0"/>
            </a:rPr>
            <a:t>enerates visual graphs and exportable pdf health reports.</a:t>
          </a:r>
          <a:endParaRPr lang="en-US" sz="1500" kern="1200" dirty="0">
            <a:latin typeface="Times New Roman" panose="02020603050405020304" pitchFamily="18" charset="0"/>
            <a:cs typeface="Times New Roman" panose="02020603050405020304" pitchFamily="18" charset="0"/>
          </a:endParaRPr>
        </a:p>
      </dsp:txBody>
      <dsp:txXfrm>
        <a:off x="8793914" y="2028902"/>
        <a:ext cx="1800000" cy="157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4A591-74BF-4050-AC71-61C2A807B769}">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96CCA9-B049-4053-B826-6A0D5AC3671E}">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b="1" kern="1200"/>
            <a:t>Encapsulation: </a:t>
          </a:r>
          <a:r>
            <a:rPr lang="en-GB" sz="2100" kern="1200"/>
            <a:t>We protected our data integrity by strictly using private fields in domain entities like Patient and Medicine. External classes cannot modify a patient's data directly; they must use controlled public methods. We also encapsulated the active user state securely within the SessionManager.</a:t>
          </a:r>
          <a:endParaRPr lang="en-US" sz="2100" kern="1200"/>
        </a:p>
      </dsp:txBody>
      <dsp:txXfrm>
        <a:off x="608661" y="692298"/>
        <a:ext cx="4508047" cy="2799040"/>
      </dsp:txXfrm>
    </dsp:sp>
    <dsp:sp modelId="{1E705099-9E26-4B4C-876E-DE6D090ABDE7}">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7FAC66-40E3-47B7-AF0C-44CD9DAB2566}">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b="1" kern="1200"/>
            <a:t>Abstraction: </a:t>
          </a:r>
          <a:r>
            <a:rPr lang="en-GB" sz="2100" kern="1200"/>
            <a:t>We abstracted away low-level system complexities from our main application flow. For example, our controllers simply call a high-level BackupService.generateBackup() method, remaining completely unaware of the complex file serialization and data compression happening behind the scenes.</a:t>
          </a:r>
          <a:endParaRPr lang="en-US" sz="2100" kern="120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09BA-10B1-05E9-741F-0761198745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94C082-DD5C-1E2F-6F47-0D45A1B56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3185AC-1ACC-BF42-00E4-E95BBDB83350}"/>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5" name="Footer Placeholder 4">
            <a:extLst>
              <a:ext uri="{FF2B5EF4-FFF2-40B4-BE49-F238E27FC236}">
                <a16:creationId xmlns:a16="http://schemas.microsoft.com/office/drawing/2014/main" id="{2394E8EC-12E7-82A1-9FF7-463F88137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1626FE-8909-D5D2-FB4D-B63AAAD75F60}"/>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3445797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A3CE5-CA6F-35FF-140A-26BFA11305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AC785-3F18-C730-B88C-3A63ED9A60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119DA0-D353-A85B-F12D-18C6A26BC43C}"/>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5" name="Footer Placeholder 4">
            <a:extLst>
              <a:ext uri="{FF2B5EF4-FFF2-40B4-BE49-F238E27FC236}">
                <a16:creationId xmlns:a16="http://schemas.microsoft.com/office/drawing/2014/main" id="{63D0DBBE-F5CC-D7A9-C8CE-C63E52BE57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F9FC3-3361-FF04-7A5F-FAC9433790C2}"/>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225123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1ED1-BEA0-DCB5-BA09-6B790B1BE2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D96E36-6216-3110-4190-7A88CBE7E4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B57A00-B2CD-AB50-A8B8-659F3741CEAC}"/>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5" name="Footer Placeholder 4">
            <a:extLst>
              <a:ext uri="{FF2B5EF4-FFF2-40B4-BE49-F238E27FC236}">
                <a16:creationId xmlns:a16="http://schemas.microsoft.com/office/drawing/2014/main" id="{593FE98B-AACC-E884-2083-491E81809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81D62D-3408-724B-10DF-6701A4E6FDA4}"/>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4207267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2793B-1E8D-1BA0-5FF5-5B736A2946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F9039E-BF7C-5642-2603-51E0EBA384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581055-F10D-E940-5E81-172872E821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7F4C3B-E7FC-96BC-1F78-BA66050D80E3}"/>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6" name="Footer Placeholder 5">
            <a:extLst>
              <a:ext uri="{FF2B5EF4-FFF2-40B4-BE49-F238E27FC236}">
                <a16:creationId xmlns:a16="http://schemas.microsoft.com/office/drawing/2014/main" id="{D4EF12BD-3141-4DE7-A0A5-4A76ABE873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D0F503-B4A0-B729-7AD5-C92ACD7E46ED}"/>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4269576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E173B-BD5F-13E8-2130-5BB5FDEF59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CBF6B8-9BC7-47D8-E4E4-A8FE0F61CE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EAD853-6EEE-D957-97DC-E4810FFE38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AFFF6-5E4E-9241-A50C-24798E92F5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EA8DC4-1787-4D6D-D50D-8280FA2FA3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A0FF84-F5E6-2BE1-5977-83E3308A3E00}"/>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8" name="Footer Placeholder 7">
            <a:extLst>
              <a:ext uri="{FF2B5EF4-FFF2-40B4-BE49-F238E27FC236}">
                <a16:creationId xmlns:a16="http://schemas.microsoft.com/office/drawing/2014/main" id="{D5D11098-5A13-C3C9-1AE9-18FB3B30E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4585BC-1718-197F-BF63-53CD85EF135F}"/>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416888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45536-340D-6CA1-4DFB-E019545796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50D990-609E-6A9C-86EB-0FBA5FEAA559}"/>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4" name="Footer Placeholder 3">
            <a:extLst>
              <a:ext uri="{FF2B5EF4-FFF2-40B4-BE49-F238E27FC236}">
                <a16:creationId xmlns:a16="http://schemas.microsoft.com/office/drawing/2014/main" id="{A920E6A8-1628-B6C5-2E5C-05A0848648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838841-509F-68E3-AEBC-881451ECA215}"/>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36345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849FE0-D007-7A8F-C512-B120EE3463DC}"/>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3" name="Footer Placeholder 2">
            <a:extLst>
              <a:ext uri="{FF2B5EF4-FFF2-40B4-BE49-F238E27FC236}">
                <a16:creationId xmlns:a16="http://schemas.microsoft.com/office/drawing/2014/main" id="{6039C716-3026-768B-B6EE-0829B4D47C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053894-C3D9-8B03-7210-E42E7128DEE4}"/>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1502600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E32EC-5D9E-C043-21C0-130A68D8B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C81E40-3176-CE03-90F0-4D2BA15B84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E06300-796E-5F2F-C9B1-3B411EEDA9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098BA-1F7F-1F33-160C-290A7443F43E}"/>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6" name="Footer Placeholder 5">
            <a:extLst>
              <a:ext uri="{FF2B5EF4-FFF2-40B4-BE49-F238E27FC236}">
                <a16:creationId xmlns:a16="http://schemas.microsoft.com/office/drawing/2014/main" id="{377B5F64-2579-BE7A-84AD-7D635E9AFB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4FD06D-1991-6366-B9E0-035DC458F58A}"/>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406754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8B87F-4DB3-0648-4717-E5F8FFC4E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1014BD-558B-E666-6235-F9A9B20B9D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4D3C87-6214-4FC9-6E87-25DFEC0C3C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BB45D8-1C15-72F4-7F76-EABA9DF2EE03}"/>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6" name="Footer Placeholder 5">
            <a:extLst>
              <a:ext uri="{FF2B5EF4-FFF2-40B4-BE49-F238E27FC236}">
                <a16:creationId xmlns:a16="http://schemas.microsoft.com/office/drawing/2014/main" id="{4B5ADD47-BCE0-7F97-08A1-00963A3D77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E5F5C-D46D-9F9D-E1FF-8AEFEC1275C1}"/>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3422131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5204-A935-FD86-4ACF-13FC745CA5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B4430F-4093-D48C-2E91-F4482E45EC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E10897-2C5B-43C1-FA3F-D92482411843}"/>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5" name="Footer Placeholder 4">
            <a:extLst>
              <a:ext uri="{FF2B5EF4-FFF2-40B4-BE49-F238E27FC236}">
                <a16:creationId xmlns:a16="http://schemas.microsoft.com/office/drawing/2014/main" id="{A7734967-A268-3A18-55DF-143981EAFA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96898-AF7D-68C9-9A9F-D45216C5878A}"/>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3140589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7AF2ED-6006-29FD-54F4-94047BF71B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637633-EBA3-488C-25B8-E332F1BC9C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1B18A2-19EB-9950-972F-F4ACB73083E9}"/>
              </a:ext>
            </a:extLst>
          </p:cNvPr>
          <p:cNvSpPr>
            <a:spLocks noGrp="1"/>
          </p:cNvSpPr>
          <p:nvPr>
            <p:ph type="dt" sz="half" idx="10"/>
          </p:nvPr>
        </p:nvSpPr>
        <p:spPr/>
        <p:txBody>
          <a:bodyPr/>
          <a:lstStyle/>
          <a:p>
            <a:fld id="{DDC9EC0C-215A-4856-ACC7-82AA44063752}" type="datetimeFigureOut">
              <a:rPr lang="en-US" smtClean="0"/>
              <a:t>5/7/2026</a:t>
            </a:fld>
            <a:endParaRPr lang="en-US"/>
          </a:p>
        </p:txBody>
      </p:sp>
      <p:sp>
        <p:nvSpPr>
          <p:cNvPr id="5" name="Footer Placeholder 4">
            <a:extLst>
              <a:ext uri="{FF2B5EF4-FFF2-40B4-BE49-F238E27FC236}">
                <a16:creationId xmlns:a16="http://schemas.microsoft.com/office/drawing/2014/main" id="{D941CC45-F460-CA39-F287-457EB44EC0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12669C-0EAF-E2D7-459D-222A8224E8D4}"/>
              </a:ext>
            </a:extLst>
          </p:cNvPr>
          <p:cNvSpPr>
            <a:spLocks noGrp="1"/>
          </p:cNvSpPr>
          <p:nvPr>
            <p:ph type="sldNum" sz="quarter" idx="12"/>
          </p:nvPr>
        </p:nvSpPr>
        <p:spPr/>
        <p:txBody>
          <a:bodyPr/>
          <a:lstStyle/>
          <a:p>
            <a:fld id="{CFC0EB91-4974-4B11-9797-0BCBD04074D7}" type="slidenum">
              <a:rPr lang="en-US" smtClean="0"/>
              <a:t>‹#›</a:t>
            </a:fld>
            <a:endParaRPr lang="en-US"/>
          </a:p>
        </p:txBody>
      </p:sp>
    </p:spTree>
    <p:extLst>
      <p:ext uri="{BB962C8B-B14F-4D97-AF65-F5344CB8AC3E}">
        <p14:creationId xmlns:p14="http://schemas.microsoft.com/office/powerpoint/2010/main" val="2987383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CD239A-284D-6C60-FE02-8B590DF0ED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31C5CE-AD64-43F5-64C5-F6FC39A578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B9AF12-088B-B261-49F9-69E9ECDEE6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9EC0C-215A-4856-ACC7-82AA44063752}" type="datetimeFigureOut">
              <a:rPr lang="en-US" smtClean="0"/>
              <a:t>5/7/2026</a:t>
            </a:fld>
            <a:endParaRPr lang="en-US"/>
          </a:p>
        </p:txBody>
      </p:sp>
      <p:sp>
        <p:nvSpPr>
          <p:cNvPr id="5" name="Footer Placeholder 4">
            <a:extLst>
              <a:ext uri="{FF2B5EF4-FFF2-40B4-BE49-F238E27FC236}">
                <a16:creationId xmlns:a16="http://schemas.microsoft.com/office/drawing/2014/main" id="{E66D24F2-91D6-D249-E05D-85553A60C6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8907AF-2BF6-BED8-28E0-C012B1A2D8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0EB91-4974-4B11-9797-0BCBD04074D7}" type="slidenum">
              <a:rPr lang="en-US" smtClean="0"/>
              <a:t>‹#›</a:t>
            </a:fld>
            <a:endParaRPr lang="en-US"/>
          </a:p>
        </p:txBody>
      </p:sp>
    </p:spTree>
    <p:extLst>
      <p:ext uri="{BB962C8B-B14F-4D97-AF65-F5344CB8AC3E}">
        <p14:creationId xmlns:p14="http://schemas.microsoft.com/office/powerpoint/2010/main" val="2084494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1.wdp"/><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A2B9-BC00-2CA4-8BB1-83B2582192FA}"/>
              </a:ext>
            </a:extLst>
          </p:cNvPr>
          <p:cNvSpPr>
            <a:spLocks noGrp="1"/>
          </p:cNvSpPr>
          <p:nvPr>
            <p:ph type="ctrTitle"/>
          </p:nvPr>
        </p:nvSpPr>
        <p:spPr>
          <a:xfrm>
            <a:off x="2684980" y="1851828"/>
            <a:ext cx="9144000" cy="2387600"/>
          </a:xfrm>
        </p:spPr>
        <p:txBody>
          <a:bodyPr>
            <a:normAutofit/>
          </a:bodyPr>
          <a:lstStyle/>
          <a:p>
            <a:r>
              <a:rPr lang="en-US" sz="13800" dirty="0">
                <a:solidFill>
                  <a:srgbClr val="00B050"/>
                </a:solidFill>
                <a:latin typeface="Agency FB" panose="020B0503020202020204" pitchFamily="34" charset="0"/>
              </a:rPr>
              <a:t>Synapse</a:t>
            </a:r>
          </a:p>
        </p:txBody>
      </p:sp>
      <p:pic>
        <p:nvPicPr>
          <p:cNvPr id="5" name="Picture 4">
            <a:extLst>
              <a:ext uri="{FF2B5EF4-FFF2-40B4-BE49-F238E27FC236}">
                <a16:creationId xmlns:a16="http://schemas.microsoft.com/office/drawing/2014/main" id="{4DC6FB4F-AF26-6495-5D78-1183A34D6AB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78440" y="2155555"/>
            <a:ext cx="2312989" cy="2156471"/>
          </a:xfrm>
          <a:prstGeom prst="rect">
            <a:avLst/>
          </a:prstGeom>
        </p:spPr>
      </p:pic>
      <p:sp>
        <p:nvSpPr>
          <p:cNvPr id="6" name="TextBox 5">
            <a:extLst>
              <a:ext uri="{FF2B5EF4-FFF2-40B4-BE49-F238E27FC236}">
                <a16:creationId xmlns:a16="http://schemas.microsoft.com/office/drawing/2014/main" id="{4BBE4BA7-577A-0CF0-B7B3-16C80817F017}"/>
              </a:ext>
            </a:extLst>
          </p:cNvPr>
          <p:cNvSpPr txBox="1"/>
          <p:nvPr/>
        </p:nvSpPr>
        <p:spPr>
          <a:xfrm>
            <a:off x="5301463" y="4239428"/>
            <a:ext cx="5650787" cy="369332"/>
          </a:xfrm>
          <a:prstGeom prst="rect">
            <a:avLst/>
          </a:prstGeom>
          <a:noFill/>
        </p:spPr>
        <p:txBody>
          <a:bodyPr wrap="square" rtlCol="0">
            <a:spAutoFit/>
          </a:bodyPr>
          <a:lstStyle/>
          <a:p>
            <a:r>
              <a:rPr lang="en-US" spc="600" dirty="0">
                <a:solidFill>
                  <a:schemeClr val="accent3"/>
                </a:solidFill>
              </a:rPr>
              <a:t>Healthcare . Simplified</a:t>
            </a:r>
          </a:p>
        </p:txBody>
      </p:sp>
    </p:spTree>
    <p:extLst>
      <p:ext uri="{BB962C8B-B14F-4D97-AF65-F5344CB8AC3E}">
        <p14:creationId xmlns:p14="http://schemas.microsoft.com/office/powerpoint/2010/main" val="2368381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C77FBD-D7D6-81AC-C735-41D53A12850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21932" y="-2918610"/>
            <a:ext cx="14034498" cy="13084796"/>
          </a:xfrm>
          <a:prstGeom prst="rect">
            <a:avLst/>
          </a:prstGeom>
        </p:spPr>
      </p:pic>
      <p:sp>
        <p:nvSpPr>
          <p:cNvPr id="5" name="Rectangle 4">
            <a:extLst>
              <a:ext uri="{FF2B5EF4-FFF2-40B4-BE49-F238E27FC236}">
                <a16:creationId xmlns:a16="http://schemas.microsoft.com/office/drawing/2014/main" id="{6684BCE5-7EF9-D7C4-2854-3E73AC0A2587}"/>
              </a:ext>
            </a:extLst>
          </p:cNvPr>
          <p:cNvSpPr/>
          <p:nvPr/>
        </p:nvSpPr>
        <p:spPr>
          <a:xfrm>
            <a:off x="-955497" y="-92467"/>
            <a:ext cx="14537933" cy="70275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7B2E04-AB6E-EFA1-2E9A-07459CC4BBD9}"/>
              </a:ext>
            </a:extLst>
          </p:cNvPr>
          <p:cNvSpPr>
            <a:spLocks noGrp="1"/>
          </p:cNvSpPr>
          <p:nvPr>
            <p:ph type="title"/>
          </p:nvPr>
        </p:nvSpPr>
        <p:spPr/>
        <p:txBody>
          <a:bodyPr/>
          <a:lstStyle/>
          <a:p>
            <a:pPr algn="ctr"/>
            <a:r>
              <a:rPr lang="en-US" dirty="0">
                <a:latin typeface="Arial Rounded MT Bold" panose="020F0704030504030204" pitchFamily="34" charset="0"/>
              </a:rPr>
              <a:t>The Fragmentation of Personal Health</a:t>
            </a:r>
          </a:p>
        </p:txBody>
      </p:sp>
      <p:graphicFrame>
        <p:nvGraphicFramePr>
          <p:cNvPr id="7" name="Content Placeholder 2">
            <a:extLst>
              <a:ext uri="{FF2B5EF4-FFF2-40B4-BE49-F238E27FC236}">
                <a16:creationId xmlns:a16="http://schemas.microsoft.com/office/drawing/2014/main" id="{4E481741-6252-F408-CCE5-B9014195AF5D}"/>
              </a:ext>
            </a:extLst>
          </p:cNvPr>
          <p:cNvGraphicFramePr>
            <a:graphicFrameLocks noGrp="1"/>
          </p:cNvGraphicFramePr>
          <p:nvPr>
            <p:ph idx="1"/>
            <p:extLst>
              <p:ext uri="{D42A27DB-BD31-4B8C-83A1-F6EECF244321}">
                <p14:modId xmlns:p14="http://schemas.microsoft.com/office/powerpoint/2010/main" val="1740597591"/>
              </p:ext>
            </p:extLst>
          </p:nvPr>
        </p:nvGraphicFramePr>
        <p:xfrm>
          <a:off x="838200" y="1990011"/>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24415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ADFEF7-937D-E7FF-38A3-677AA106922C}"/>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a:solidFill>
                  <a:srgbClr val="FFFFFF"/>
                </a:solidFill>
                <a:latin typeface="Arial Rounded MT Bold" panose="020F0704030504030204" pitchFamily="34" charset="0"/>
              </a:rPr>
              <a:t>Synapse System</a:t>
            </a:r>
          </a:p>
        </p:txBody>
      </p:sp>
      <p:graphicFrame>
        <p:nvGraphicFramePr>
          <p:cNvPr id="5" name="Content Placeholder 2">
            <a:extLst>
              <a:ext uri="{FF2B5EF4-FFF2-40B4-BE49-F238E27FC236}">
                <a16:creationId xmlns:a16="http://schemas.microsoft.com/office/drawing/2014/main" id="{71430265-567C-BCE6-C025-8C4EB5B76914}"/>
              </a:ext>
            </a:extLst>
          </p:cNvPr>
          <p:cNvGraphicFramePr>
            <a:graphicFrameLocks noGrp="1"/>
          </p:cNvGraphicFramePr>
          <p:nvPr>
            <p:ph idx="1"/>
            <p:extLst>
              <p:ext uri="{D42A27DB-BD31-4B8C-83A1-F6EECF244321}">
                <p14:modId xmlns:p14="http://schemas.microsoft.com/office/powerpoint/2010/main" val="140888047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23451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F78A4E-AF5E-6039-6B9A-E11FDF45BAD9}"/>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a:solidFill>
                  <a:srgbClr val="FFFFFF"/>
                </a:solidFill>
                <a:latin typeface="Arial Rounded MT Bold" panose="020F0704030504030204" pitchFamily="34" charset="0"/>
              </a:rPr>
              <a:t>Core Functionalities</a:t>
            </a:r>
          </a:p>
        </p:txBody>
      </p:sp>
      <p:graphicFrame>
        <p:nvGraphicFramePr>
          <p:cNvPr id="6" name="Rectangle 1">
            <a:extLst>
              <a:ext uri="{FF2B5EF4-FFF2-40B4-BE49-F238E27FC236}">
                <a16:creationId xmlns:a16="http://schemas.microsoft.com/office/drawing/2014/main" id="{549D8542-91BD-8AA3-EA8F-A44E419D9520}"/>
              </a:ext>
            </a:extLst>
          </p:cNvPr>
          <p:cNvGraphicFramePr>
            <a:graphicFrameLocks noGrp="1"/>
          </p:cNvGraphicFramePr>
          <p:nvPr>
            <p:ph idx="1"/>
            <p:extLst>
              <p:ext uri="{D42A27DB-BD31-4B8C-83A1-F6EECF244321}">
                <p14:modId xmlns:p14="http://schemas.microsoft.com/office/powerpoint/2010/main" val="299708647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91116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C803F22B-C7ED-8773-CFB0-8BE6335E9C9D}"/>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a:solidFill>
                  <a:srgbClr val="FFFFFF"/>
                </a:solidFill>
                <a:latin typeface="Arial Rounded MT Bold" panose="020F0704030504030204" pitchFamily="34" charset="0"/>
              </a:rPr>
              <a:t>List of Use Cases</a:t>
            </a:r>
          </a:p>
        </p:txBody>
      </p:sp>
      <p:sp>
        <p:nvSpPr>
          <p:cNvPr id="3" name="Content Placeholder 2">
            <a:extLst>
              <a:ext uri="{FF2B5EF4-FFF2-40B4-BE49-F238E27FC236}">
                <a16:creationId xmlns:a16="http://schemas.microsoft.com/office/drawing/2014/main" id="{B0AF87AB-BBEE-935D-F1B0-01B059BA09CB}"/>
              </a:ext>
            </a:extLst>
          </p:cNvPr>
          <p:cNvSpPr>
            <a:spLocks noGrp="1"/>
          </p:cNvSpPr>
          <p:nvPr>
            <p:ph sz="half" idx="1"/>
          </p:nvPr>
        </p:nvSpPr>
        <p:spPr>
          <a:xfrm>
            <a:off x="4380855" y="1412489"/>
            <a:ext cx="3427283" cy="4363844"/>
          </a:xfrm>
        </p:spPr>
        <p:txBody>
          <a:bodyPr vert="horz" lIns="91440" tIns="45720" rIns="91440" bIns="45720" rtlCol="0">
            <a:normAutofit/>
          </a:bodyPr>
          <a:lstStyle/>
          <a:p>
            <a:r>
              <a:rPr lang="en-US" sz="2000" dirty="0">
                <a:latin typeface="Times New Roman" panose="02020603050405020304" pitchFamily="18" charset="0"/>
                <a:cs typeface="Times New Roman" panose="02020603050405020304" pitchFamily="18" charset="0"/>
              </a:rPr>
              <a:t>Manage Account</a:t>
            </a:r>
          </a:p>
          <a:p>
            <a:r>
              <a:rPr lang="en-US" sz="2000" dirty="0">
                <a:latin typeface="Times New Roman" panose="02020603050405020304" pitchFamily="18" charset="0"/>
                <a:cs typeface="Times New Roman" panose="02020603050405020304" pitchFamily="18" charset="0"/>
              </a:rPr>
              <a:t>Log Vitals</a:t>
            </a:r>
          </a:p>
          <a:p>
            <a:r>
              <a:rPr lang="en-US" sz="2000" dirty="0">
                <a:latin typeface="Times New Roman" panose="02020603050405020304" pitchFamily="18" charset="0"/>
                <a:cs typeface="Times New Roman" panose="02020603050405020304" pitchFamily="18" charset="0"/>
              </a:rPr>
              <a:t>Log Symptoms</a:t>
            </a:r>
          </a:p>
          <a:p>
            <a:r>
              <a:rPr lang="en-US" sz="2000" dirty="0">
                <a:latin typeface="Times New Roman" panose="02020603050405020304" pitchFamily="18" charset="0"/>
                <a:cs typeface="Times New Roman" panose="02020603050405020304" pitchFamily="18" charset="0"/>
              </a:rPr>
              <a:t>Track Diet, BMI and Hydration</a:t>
            </a:r>
          </a:p>
          <a:p>
            <a:r>
              <a:rPr lang="en-US" sz="2000" dirty="0">
                <a:latin typeface="Times New Roman" panose="02020603050405020304" pitchFamily="18" charset="0"/>
                <a:cs typeface="Times New Roman" panose="02020603050405020304" pitchFamily="18" charset="0"/>
              </a:rPr>
              <a:t>Write Journal Entry</a:t>
            </a:r>
          </a:p>
          <a:p>
            <a:r>
              <a:rPr lang="en-US" sz="2000" dirty="0">
                <a:latin typeface="Times New Roman" panose="02020603050405020304" pitchFamily="18" charset="0"/>
                <a:cs typeface="Times New Roman" panose="02020603050405020304" pitchFamily="18" charset="0"/>
              </a:rPr>
              <a:t>Manage Medicine Inventory and Prescriptions</a:t>
            </a:r>
          </a:p>
          <a:p>
            <a:r>
              <a:rPr lang="en-US" sz="2000" dirty="0">
                <a:latin typeface="Times New Roman" panose="02020603050405020304" pitchFamily="18" charset="0"/>
                <a:cs typeface="Times New Roman" panose="02020603050405020304" pitchFamily="18" charset="0"/>
              </a:rPr>
              <a:t>Send System Alert</a:t>
            </a:r>
          </a:p>
          <a:p>
            <a:r>
              <a:rPr lang="en-US" sz="2000" dirty="0">
                <a:latin typeface="Times New Roman" panose="02020603050405020304" pitchFamily="18" charset="0"/>
                <a:cs typeface="Times New Roman" panose="02020603050405020304" pitchFamily="18" charset="0"/>
              </a:rPr>
              <a:t>Check Drug Interaction</a:t>
            </a:r>
          </a:p>
          <a:p>
            <a:endParaRPr lang="en-US" sz="2000" dirty="0">
              <a:latin typeface="Georgia" panose="02040502050405020303" pitchFamily="18" charset="0"/>
            </a:endParaRPr>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07ED4B1-1A26-41F7-D2F1-B0B85504263D}"/>
              </a:ext>
            </a:extLst>
          </p:cNvPr>
          <p:cNvSpPr>
            <a:spLocks noGrp="1"/>
          </p:cNvSpPr>
          <p:nvPr>
            <p:ph sz="half" idx="2"/>
          </p:nvPr>
        </p:nvSpPr>
        <p:spPr>
          <a:xfrm>
            <a:off x="8451604" y="1412489"/>
            <a:ext cx="3197701" cy="4363844"/>
          </a:xfrm>
        </p:spPr>
        <p:txBody>
          <a:bodyPr vert="horz" lIns="91440" tIns="45720" rIns="91440" bIns="45720" rtlCol="0">
            <a:normAutofit/>
          </a:bodyPr>
          <a:lstStyle/>
          <a:p>
            <a:r>
              <a:rPr lang="en-US" sz="2000" dirty="0">
                <a:latin typeface="Times New Roman" panose="02020603050405020304" pitchFamily="18" charset="0"/>
                <a:cs typeface="Times New Roman" panose="02020603050405020304" pitchFamily="18" charset="0"/>
              </a:rPr>
              <a:t>Track Calendar</a:t>
            </a:r>
          </a:p>
          <a:p>
            <a:r>
              <a:rPr lang="en-US" sz="2000" dirty="0">
                <a:latin typeface="Times New Roman" panose="02020603050405020304" pitchFamily="18" charset="0"/>
                <a:cs typeface="Times New Roman" panose="02020603050405020304" pitchFamily="18" charset="0"/>
              </a:rPr>
              <a:t>Browse Hospitals</a:t>
            </a:r>
          </a:p>
          <a:p>
            <a:r>
              <a:rPr lang="en-US" sz="2000" dirty="0">
                <a:latin typeface="Times New Roman" panose="02020603050405020304" pitchFamily="18" charset="0"/>
                <a:cs typeface="Times New Roman" panose="02020603050405020304" pitchFamily="18" charset="0"/>
              </a:rPr>
              <a:t>Trigger Emergency Protocol</a:t>
            </a:r>
          </a:p>
          <a:p>
            <a:r>
              <a:rPr lang="en-US" sz="2000" dirty="0">
                <a:latin typeface="Times New Roman" panose="02020603050405020304" pitchFamily="18" charset="0"/>
                <a:cs typeface="Times New Roman" panose="02020603050405020304" pitchFamily="18" charset="0"/>
              </a:rPr>
              <a:t>Organize Medical Records</a:t>
            </a:r>
          </a:p>
          <a:p>
            <a:r>
              <a:rPr lang="en-US" sz="2000" dirty="0">
                <a:latin typeface="Times New Roman" panose="02020603050405020304" pitchFamily="18" charset="0"/>
                <a:cs typeface="Times New Roman" panose="02020603050405020304" pitchFamily="18" charset="0"/>
              </a:rPr>
              <a:t>Backup and Restore Data</a:t>
            </a:r>
          </a:p>
          <a:p>
            <a:r>
              <a:rPr lang="en-US" sz="2000" dirty="0">
                <a:latin typeface="Times New Roman" panose="02020603050405020304" pitchFamily="18" charset="0"/>
                <a:cs typeface="Times New Roman" panose="02020603050405020304" pitchFamily="18" charset="0"/>
              </a:rPr>
              <a:t>View Health Analytics</a:t>
            </a:r>
          </a:p>
          <a:p>
            <a:r>
              <a:rPr lang="en-US" sz="2000" dirty="0">
                <a:latin typeface="Times New Roman" panose="02020603050405020304" pitchFamily="18" charset="0"/>
                <a:cs typeface="Times New Roman" panose="02020603050405020304" pitchFamily="18" charset="0"/>
              </a:rPr>
              <a:t>Generate Health Report</a:t>
            </a:r>
          </a:p>
          <a:p>
            <a:endParaRPr lang="en-US" sz="2000" dirty="0">
              <a:latin typeface="Georgia" panose="02040502050405020303" pitchFamily="18" charset="0"/>
            </a:endParaRPr>
          </a:p>
        </p:txBody>
      </p:sp>
    </p:spTree>
    <p:extLst>
      <p:ext uri="{BB962C8B-B14F-4D97-AF65-F5344CB8AC3E}">
        <p14:creationId xmlns:p14="http://schemas.microsoft.com/office/powerpoint/2010/main" val="412409181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B02290-D86C-16DF-6ED5-4C2C0F30B11F}"/>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OOP Principles</a:t>
            </a:r>
            <a:endParaRPr lang="en-PK" sz="4000">
              <a:solidFill>
                <a:srgbClr val="FFFFFF"/>
              </a:solidFill>
            </a:endParaRPr>
          </a:p>
        </p:txBody>
      </p:sp>
      <p:graphicFrame>
        <p:nvGraphicFramePr>
          <p:cNvPr id="5" name="Content Placeholder 2">
            <a:extLst>
              <a:ext uri="{FF2B5EF4-FFF2-40B4-BE49-F238E27FC236}">
                <a16:creationId xmlns:a16="http://schemas.microsoft.com/office/drawing/2014/main" id="{B7CF5626-1D2B-38F7-1E23-860CA6C944AF}"/>
              </a:ext>
            </a:extLst>
          </p:cNvPr>
          <p:cNvGraphicFramePr>
            <a:graphicFrameLocks noGrp="1"/>
          </p:cNvGraphicFramePr>
          <p:nvPr>
            <p:ph idx="1"/>
            <p:extLst>
              <p:ext uri="{D42A27DB-BD31-4B8C-83A1-F6EECF244321}">
                <p14:modId xmlns:p14="http://schemas.microsoft.com/office/powerpoint/2010/main" val="182164351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26219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D3E9C1-5F9C-9992-E206-5FF385DEDEBF}"/>
              </a:ext>
            </a:extLst>
          </p:cNvPr>
          <p:cNvSpPr>
            <a:spLocks noGrp="1"/>
          </p:cNvSpPr>
          <p:nvPr>
            <p:ph type="title"/>
          </p:nvPr>
        </p:nvSpPr>
        <p:spPr>
          <a:xfrm>
            <a:off x="1371599" y="294538"/>
            <a:ext cx="9895951" cy="1033669"/>
          </a:xfrm>
        </p:spPr>
        <p:txBody>
          <a:bodyPr vert="horz" lIns="91440" tIns="45720" rIns="91440" bIns="45720" rtlCol="0">
            <a:normAutofit/>
          </a:bodyPr>
          <a:lstStyle/>
          <a:p>
            <a:r>
              <a:rPr lang="en-US" sz="4000">
                <a:solidFill>
                  <a:srgbClr val="FFFFFF"/>
                </a:solidFill>
                <a:latin typeface="Arial Rounded MT Bold" panose="020F0704030504030204" pitchFamily="34" charset="0"/>
              </a:rPr>
              <a:t>Design Patterns: GRASP</a:t>
            </a:r>
          </a:p>
        </p:txBody>
      </p:sp>
      <p:sp>
        <p:nvSpPr>
          <p:cNvPr id="26" name="Content Placeholder 2">
            <a:extLst>
              <a:ext uri="{FF2B5EF4-FFF2-40B4-BE49-F238E27FC236}">
                <a16:creationId xmlns:a16="http://schemas.microsoft.com/office/drawing/2014/main" id="{34763F35-4000-7224-8B50-E46C6BDAA3E4}"/>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en-US" sz="1600" b="1" dirty="0">
                <a:latin typeface="Times New Roman" panose="02020603050405020304" pitchFamily="18" charset="0"/>
                <a:cs typeface="Times New Roman" panose="02020603050405020304" pitchFamily="18" charset="0"/>
              </a:rPr>
              <a:t>Information Expert: </a:t>
            </a:r>
            <a:r>
              <a:rPr lang="en-US" sz="1600" dirty="0">
                <a:latin typeface="Times New Roman" panose="02020603050405020304" pitchFamily="18" charset="0"/>
                <a:cs typeface="Times New Roman" panose="02020603050405020304" pitchFamily="18" charset="0"/>
              </a:rPr>
              <a:t>We placed business logic inside the domain entities that own the data. For example, the Patient class contains the methods to manage its Medicine inventory, rather than having an external class manipulate the Patient's data.</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Controller: </a:t>
            </a:r>
            <a:r>
              <a:rPr lang="en-US" sz="1600" dirty="0">
                <a:latin typeface="Times New Roman" panose="02020603050405020304" pitchFamily="18" charset="0"/>
                <a:cs typeface="Times New Roman" panose="02020603050405020304" pitchFamily="18" charset="0"/>
              </a:rPr>
              <a:t>We used specific controller classes, such as </a:t>
            </a:r>
            <a:r>
              <a:rPr lang="en-US" sz="1600" dirty="0" err="1">
                <a:latin typeface="Times New Roman" panose="02020603050405020304" pitchFamily="18" charset="0"/>
                <a:cs typeface="Times New Roman" panose="02020603050405020304" pitchFamily="18" charset="0"/>
              </a:rPr>
              <a:t>EmergencyController</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MedicineController</a:t>
            </a:r>
            <a:r>
              <a:rPr lang="en-US" sz="1600" dirty="0">
                <a:latin typeface="Times New Roman" panose="02020603050405020304" pitchFamily="18" charset="0"/>
                <a:cs typeface="Times New Roman" panose="02020603050405020304" pitchFamily="18" charset="0"/>
              </a:rPr>
              <a:t>, to intercept JavaFX interface events from </a:t>
            </a:r>
            <a:r>
              <a:rPr lang="en-US" sz="1600" dirty="0" err="1">
                <a:latin typeface="Times New Roman" panose="02020603050405020304" pitchFamily="18" charset="0"/>
                <a:cs typeface="Times New Roman" panose="02020603050405020304" pitchFamily="18" charset="0"/>
              </a:rPr>
              <a:t>EmergencyView</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MedicineView</a:t>
            </a:r>
            <a:r>
              <a:rPr lang="en-US" sz="1600" dirty="0">
                <a:latin typeface="Times New Roman" panose="02020603050405020304" pitchFamily="18" charset="0"/>
                <a:cs typeface="Times New Roman" panose="02020603050405020304" pitchFamily="18" charset="0"/>
              </a:rPr>
              <a:t>, keeping the user interface completely separated from backend logic.</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Pure Fabrication: </a:t>
            </a:r>
            <a:r>
              <a:rPr lang="en-US" sz="1600" dirty="0">
                <a:latin typeface="Times New Roman" panose="02020603050405020304" pitchFamily="18" charset="0"/>
                <a:cs typeface="Times New Roman" panose="02020603050405020304" pitchFamily="18" charset="0"/>
              </a:rPr>
              <a:t>We created dedicated background services that do not exist in the real-world medical domain. The </a:t>
            </a:r>
            <a:r>
              <a:rPr lang="en-US" sz="1600" dirty="0" err="1">
                <a:latin typeface="Times New Roman" panose="02020603050405020304" pitchFamily="18" charset="0"/>
                <a:cs typeface="Times New Roman" panose="02020603050405020304" pitchFamily="18" charset="0"/>
              </a:rPr>
              <a:t>FileStorageService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BackupService</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DocumentGenerator</a:t>
            </a:r>
            <a:r>
              <a:rPr lang="en-US" sz="1600" dirty="0">
                <a:latin typeface="Times New Roman" panose="02020603050405020304" pitchFamily="18" charset="0"/>
                <a:cs typeface="Times New Roman" panose="02020603050405020304" pitchFamily="18" charset="0"/>
              </a:rPr>
              <a:t> were fabricated purely to handle complex file and PDF operations cleanly.</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High Cohesion and Low Coupling: </a:t>
            </a:r>
            <a:r>
              <a:rPr lang="en-US" sz="1600" dirty="0">
                <a:latin typeface="Times New Roman" panose="02020603050405020304" pitchFamily="18" charset="0"/>
                <a:cs typeface="Times New Roman" panose="02020603050405020304" pitchFamily="18" charset="0"/>
              </a:rPr>
              <a:t>By strictly delegating tasks, our system is highly modular. The </a:t>
            </a:r>
            <a:r>
              <a:rPr lang="en-US" sz="1600" dirty="0" err="1">
                <a:latin typeface="Times New Roman" panose="02020603050405020304" pitchFamily="18" charset="0"/>
                <a:cs typeface="Times New Roman" panose="02020603050405020304" pitchFamily="18" charset="0"/>
              </a:rPr>
              <a:t>VitalsView</a:t>
            </a:r>
            <a:r>
              <a:rPr lang="en-US" sz="1600" dirty="0">
                <a:latin typeface="Times New Roman" panose="02020603050405020304" pitchFamily="18" charset="0"/>
                <a:cs typeface="Times New Roman" panose="02020603050405020304" pitchFamily="18" charset="0"/>
              </a:rPr>
              <a:t> only handles display, the </a:t>
            </a:r>
            <a:r>
              <a:rPr lang="en-US" sz="1600" dirty="0" err="1">
                <a:latin typeface="Times New Roman" panose="02020603050405020304" pitchFamily="18" charset="0"/>
                <a:cs typeface="Times New Roman" panose="02020603050405020304" pitchFamily="18" charset="0"/>
              </a:rPr>
              <a:t>VitalsController</a:t>
            </a:r>
            <a:r>
              <a:rPr lang="en-US" sz="1600" dirty="0">
                <a:latin typeface="Times New Roman" panose="02020603050405020304" pitchFamily="18" charset="0"/>
                <a:cs typeface="Times New Roman" panose="02020603050405020304" pitchFamily="18" charset="0"/>
              </a:rPr>
              <a:t> handles the logic flow, and the Repository handles the database, ensuring changes to the interface never break the database layer.</a:t>
            </a:r>
          </a:p>
          <a:p>
            <a:endParaRPr lang="en-US" sz="1600" dirty="0">
              <a:latin typeface="Times New Roman" panose="02020603050405020304" pitchFamily="18" charset="0"/>
              <a:cs typeface="Times New Roman" panose="02020603050405020304" pitchFamily="18" charset="0"/>
            </a:endParaRPr>
          </a:p>
          <a:p>
            <a:r>
              <a:rPr lang="en-GB" sz="1600" b="1" dirty="0">
                <a:latin typeface="Times New Roman" panose="02020603050405020304" pitchFamily="18" charset="0"/>
                <a:cs typeface="Times New Roman" panose="02020603050405020304" pitchFamily="18" charset="0"/>
              </a:rPr>
              <a:t>Creator</a:t>
            </a:r>
            <a:r>
              <a:rPr lang="en-GB" sz="1600" dirty="0">
                <a:latin typeface="Times New Roman" panose="02020603050405020304" pitchFamily="18" charset="0"/>
                <a:cs typeface="Times New Roman" panose="02020603050405020304" pitchFamily="18" charset="0"/>
              </a:rPr>
              <a:t>: App creates </a:t>
            </a:r>
            <a:r>
              <a:rPr lang="en-GB" sz="1600" dirty="0" err="1">
                <a:latin typeface="Times New Roman" panose="02020603050405020304" pitchFamily="18" charset="0"/>
                <a:cs typeface="Times New Roman" panose="02020603050405020304" pitchFamily="18" charset="0"/>
              </a:rPr>
              <a:t>ViewFactory</a:t>
            </a:r>
            <a:r>
              <a:rPr lang="en-GB" sz="1600" dirty="0">
                <a:latin typeface="Times New Roman" panose="02020603050405020304" pitchFamily="18" charset="0"/>
                <a:cs typeface="Times New Roman" panose="02020603050405020304" pitchFamily="18" charset="0"/>
              </a:rPr>
              <a:t>, controllers create child objects.</a:t>
            </a:r>
          </a:p>
        </p:txBody>
      </p:sp>
    </p:spTree>
    <p:extLst>
      <p:ext uri="{BB962C8B-B14F-4D97-AF65-F5344CB8AC3E}">
        <p14:creationId xmlns:p14="http://schemas.microsoft.com/office/powerpoint/2010/main" val="316829652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D7207-7989-60E9-7882-28FC0D403886}"/>
              </a:ext>
            </a:extLst>
          </p:cNvPr>
          <p:cNvSpPr>
            <a:spLocks noGrp="1"/>
          </p:cNvSpPr>
          <p:nvPr>
            <p:ph type="title"/>
          </p:nvPr>
        </p:nvSpPr>
        <p:spPr>
          <a:xfrm>
            <a:off x="1371599" y="294538"/>
            <a:ext cx="9895951" cy="1033669"/>
          </a:xfrm>
        </p:spPr>
        <p:txBody>
          <a:bodyPr>
            <a:normAutofit/>
          </a:bodyPr>
          <a:lstStyle/>
          <a:p>
            <a:r>
              <a:rPr lang="en-US" sz="4000">
                <a:solidFill>
                  <a:srgbClr val="FFFFFF"/>
                </a:solidFill>
                <a:latin typeface="Arial Rounded MT Bold" panose="020F0704030504030204" pitchFamily="34" charset="0"/>
              </a:rPr>
              <a:t>Design Patterns: GOF</a:t>
            </a:r>
            <a:endParaRPr lang="en-US" sz="4000">
              <a:solidFill>
                <a:srgbClr val="FFFFFF"/>
              </a:solidFill>
            </a:endParaRPr>
          </a:p>
        </p:txBody>
      </p:sp>
      <p:sp>
        <p:nvSpPr>
          <p:cNvPr id="3" name="Content Placeholder 2">
            <a:extLst>
              <a:ext uri="{FF2B5EF4-FFF2-40B4-BE49-F238E27FC236}">
                <a16:creationId xmlns:a16="http://schemas.microsoft.com/office/drawing/2014/main" id="{92A42085-5404-EAFD-B06D-53E41B2CBAC7}"/>
              </a:ext>
            </a:extLst>
          </p:cNvPr>
          <p:cNvSpPr>
            <a:spLocks noGrp="1"/>
          </p:cNvSpPr>
          <p:nvPr>
            <p:ph idx="1"/>
          </p:nvPr>
        </p:nvSpPr>
        <p:spPr>
          <a:xfrm>
            <a:off x="1371599" y="2318197"/>
            <a:ext cx="9724031" cy="3683358"/>
          </a:xfrm>
        </p:spPr>
        <p:txBody>
          <a:bodyPr anchor="ctr">
            <a:noAutofit/>
          </a:bodyPr>
          <a:lstStyle/>
          <a:p>
            <a:r>
              <a:rPr lang="en-US" sz="2000" b="1" dirty="0">
                <a:latin typeface="Times New Roman" panose="02020603050405020304" pitchFamily="18" charset="0"/>
                <a:cs typeface="Times New Roman" panose="02020603050405020304" pitchFamily="18" charset="0"/>
              </a:rPr>
              <a:t>Singleton Pattern: </a:t>
            </a:r>
            <a:r>
              <a:rPr lang="en-US" sz="2000" dirty="0">
                <a:latin typeface="Times New Roman" panose="02020603050405020304" pitchFamily="18" charset="0"/>
                <a:cs typeface="Times New Roman" panose="02020603050405020304" pitchFamily="18" charset="0"/>
              </a:rPr>
              <a:t>We built the </a:t>
            </a:r>
            <a:r>
              <a:rPr lang="en-US" sz="2000" dirty="0" err="1">
                <a:latin typeface="Times New Roman" panose="02020603050405020304" pitchFamily="18" charset="0"/>
                <a:cs typeface="Times New Roman" panose="02020603050405020304" pitchFamily="18" charset="0"/>
              </a:rPr>
              <a:t>SessionManager</a:t>
            </a:r>
            <a:r>
              <a:rPr lang="en-US" sz="2000" dirty="0">
                <a:latin typeface="Times New Roman" panose="02020603050405020304" pitchFamily="18" charset="0"/>
                <a:cs typeface="Times New Roman" panose="02020603050405020304" pitchFamily="18" charset="0"/>
              </a:rPr>
              <a:t> class as a Singleton to guarantee there is only one globally accessible instance of the active Patient session. This securely holds the logged-in user's data without passing objects between every view.</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Observer Pattern: </a:t>
            </a:r>
            <a:r>
              <a:rPr lang="en-US" sz="2000" dirty="0">
                <a:latin typeface="Times New Roman" panose="02020603050405020304" pitchFamily="18" charset="0"/>
                <a:cs typeface="Times New Roman" panose="02020603050405020304" pitchFamily="18" charset="0"/>
              </a:rPr>
              <a:t>We utilized JavaFX Event Listeners in our view classes, like </a:t>
            </a:r>
            <a:r>
              <a:rPr lang="en-US" sz="2000" dirty="0" err="1">
                <a:latin typeface="Times New Roman" panose="02020603050405020304" pitchFamily="18" charset="0"/>
                <a:cs typeface="Times New Roman" panose="02020603050405020304" pitchFamily="18" charset="0"/>
              </a:rPr>
              <a:t>MainDashboardView</a:t>
            </a:r>
            <a:r>
              <a:rPr lang="en-US" sz="2000" dirty="0">
                <a:latin typeface="Times New Roman" panose="02020603050405020304" pitchFamily="18" charset="0"/>
                <a:cs typeface="Times New Roman" panose="02020603050405020304" pitchFamily="18" charset="0"/>
              </a:rPr>
              <a:t>. These listeners act as observers, constantly watching for user clicks or data updates to automatically refresh the interface without manual polling.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Factory Pattern: </a:t>
            </a:r>
            <a:r>
              <a:rPr lang="en-US" sz="2000" dirty="0">
                <a:latin typeface="Times New Roman" panose="02020603050405020304" pitchFamily="18" charset="0"/>
                <a:cs typeface="Times New Roman" panose="02020603050405020304" pitchFamily="18" charset="0"/>
              </a:rPr>
              <a:t>We leveraged </a:t>
            </a:r>
            <a:r>
              <a:rPr lang="en-US" sz="2000" dirty="0" err="1">
                <a:latin typeface="Times New Roman" panose="02020603050405020304" pitchFamily="18" charset="0"/>
                <a:cs typeface="Times New Roman" panose="02020603050405020304" pitchFamily="18" charset="0"/>
              </a:rPr>
              <a:t>Hibernate's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SessionFactory</a:t>
            </a:r>
            <a:r>
              <a:rPr lang="en-US" sz="2000" dirty="0">
                <a:latin typeface="Times New Roman" panose="02020603050405020304" pitchFamily="18" charset="0"/>
                <a:cs typeface="Times New Roman" panose="02020603050405020304" pitchFamily="18" charset="0"/>
              </a:rPr>
              <a:t> in our database configuration layer. This factory efficiently manages, creates, and distributes database connections to our Repositories, keeping raw SQL connection logic out of our core application.</a:t>
            </a:r>
          </a:p>
          <a:p>
            <a:endParaRPr lang="en-US" sz="2000" dirty="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Strategy</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ThemeStrategy</a:t>
            </a:r>
            <a:r>
              <a:rPr lang="en-GB" sz="2000" dirty="0">
                <a:latin typeface="Times New Roman" panose="02020603050405020304" pitchFamily="18" charset="0"/>
                <a:cs typeface="Times New Roman" panose="02020603050405020304" pitchFamily="18" charset="0"/>
              </a:rPr>
              <a:t> toggles </a:t>
            </a:r>
            <a:r>
              <a:rPr lang="en-GB" sz="2000" dirty="0" err="1">
                <a:latin typeface="Times New Roman" panose="02020603050405020304" pitchFamily="18" charset="0"/>
                <a:cs typeface="Times New Roman" panose="02020603050405020304" pitchFamily="18" charset="0"/>
              </a:rPr>
              <a:t>DarkThemeStrategy</a:t>
            </a:r>
            <a:r>
              <a:rPr lang="en-GB" sz="2000" dirty="0">
                <a:latin typeface="Times New Roman" panose="02020603050405020304" pitchFamily="18" charset="0"/>
                <a:cs typeface="Times New Roman" panose="02020603050405020304" pitchFamily="18" charset="0"/>
              </a:rPr>
              <a:t> and </a:t>
            </a:r>
            <a:r>
              <a:rPr lang="en-GB" sz="2000" dirty="0" err="1">
                <a:latin typeface="Times New Roman" panose="02020603050405020304" pitchFamily="18" charset="0"/>
                <a:cs typeface="Times New Roman" panose="02020603050405020304" pitchFamily="18" charset="0"/>
              </a:rPr>
              <a:t>LightThemeStrategy</a:t>
            </a:r>
            <a:r>
              <a:rPr lang="en-GB"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21321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94ECD19-2E10-1A1C-27AB-3B3E84B0A81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Use Case Diagram</a:t>
            </a:r>
          </a:p>
        </p:txBody>
      </p:sp>
      <p:pic>
        <p:nvPicPr>
          <p:cNvPr id="4" name="Picture 3">
            <a:extLst>
              <a:ext uri="{FF2B5EF4-FFF2-40B4-BE49-F238E27FC236}">
                <a16:creationId xmlns:a16="http://schemas.microsoft.com/office/drawing/2014/main" id="{A0ECC3E4-6625-1C92-4198-95C3ADE0F6FB}"/>
              </a:ext>
            </a:extLst>
          </p:cNvPr>
          <p:cNvPicPr>
            <a:picLocks noChangeAspect="1"/>
          </p:cNvPicPr>
          <p:nvPr/>
        </p:nvPicPr>
        <p:blipFill>
          <a:blip r:embed="rId2"/>
          <a:stretch>
            <a:fillRect/>
          </a:stretch>
        </p:blipFill>
        <p:spPr>
          <a:xfrm>
            <a:off x="5531139" y="467208"/>
            <a:ext cx="5168326" cy="5923584"/>
          </a:xfrm>
          <a:prstGeom prst="rect">
            <a:avLst/>
          </a:prstGeom>
        </p:spPr>
      </p:pic>
    </p:spTree>
    <p:extLst>
      <p:ext uri="{BB962C8B-B14F-4D97-AF65-F5344CB8AC3E}">
        <p14:creationId xmlns:p14="http://schemas.microsoft.com/office/powerpoint/2010/main" val="190709837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5C4281-95B1-B859-4484-9706D614278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Extended Use Case Example: Log Symptoms</a:t>
            </a:r>
          </a:p>
        </p:txBody>
      </p:sp>
      <p:graphicFrame>
        <p:nvGraphicFramePr>
          <p:cNvPr id="5" name="Table 4">
            <a:extLst>
              <a:ext uri="{FF2B5EF4-FFF2-40B4-BE49-F238E27FC236}">
                <a16:creationId xmlns:a16="http://schemas.microsoft.com/office/drawing/2014/main" id="{11A82337-C346-65C1-3A54-E110E2932514}"/>
              </a:ext>
            </a:extLst>
          </p:cNvPr>
          <p:cNvGraphicFramePr>
            <a:graphicFrameLocks noGrp="1"/>
          </p:cNvGraphicFramePr>
          <p:nvPr>
            <p:extLst>
              <p:ext uri="{D42A27DB-BD31-4B8C-83A1-F6EECF244321}">
                <p14:modId xmlns:p14="http://schemas.microsoft.com/office/powerpoint/2010/main" val="3266404094"/>
              </p:ext>
            </p:extLst>
          </p:nvPr>
        </p:nvGraphicFramePr>
        <p:xfrm>
          <a:off x="432225" y="2117129"/>
          <a:ext cx="11327550" cy="4241960"/>
        </p:xfrm>
        <a:graphic>
          <a:graphicData uri="http://schemas.openxmlformats.org/drawingml/2006/table">
            <a:tbl>
              <a:tblPr firstRow="1" firstCol="1" bandRow="1"/>
              <a:tblGrid>
                <a:gridCol w="4704519">
                  <a:extLst>
                    <a:ext uri="{9D8B030D-6E8A-4147-A177-3AD203B41FA5}">
                      <a16:colId xmlns:a16="http://schemas.microsoft.com/office/drawing/2014/main" val="1100230849"/>
                    </a:ext>
                  </a:extLst>
                </a:gridCol>
                <a:gridCol w="6623031">
                  <a:extLst>
                    <a:ext uri="{9D8B030D-6E8A-4147-A177-3AD203B41FA5}">
                      <a16:colId xmlns:a16="http://schemas.microsoft.com/office/drawing/2014/main" val="3051291507"/>
                    </a:ext>
                  </a:extLst>
                </a:gridCol>
              </a:tblGrid>
              <a:tr h="197312">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Use Case Name</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Log Symptoms</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7368175"/>
                  </a:ext>
                </a:extLst>
              </a:tr>
              <a:tr h="197312">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Scope</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Synapse – Healthcare &amp; Lifestyle Management System</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0898464"/>
                  </a:ext>
                </a:extLst>
              </a:tr>
              <a:tr h="197312">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Level</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User-Goal</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209171"/>
                  </a:ext>
                </a:extLst>
              </a:tr>
              <a:tr h="197312">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Primary Actor</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Patient</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16182"/>
                  </a:ext>
                </a:extLst>
              </a:tr>
              <a:tr h="365259">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Stakeholders and Interests</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Patient – wants to track symptoms over time for personal awareness and doctor consultations.</a:t>
                      </a:r>
                      <a:b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b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System – needs symptom data to identify health patterns and generate reports.</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9180565"/>
                  </a:ext>
                </a:extLst>
              </a:tr>
              <a:tr h="197312">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Preconditions</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Patient is logged into the Synapse system.</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9801527"/>
                  </a:ext>
                </a:extLst>
              </a:tr>
              <a:tr h="197312">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Postconditions</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The symptom entry is recorded with severity and timestamp, and is available for trend analysis.</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5146832"/>
                  </a:ext>
                </a:extLst>
              </a:tr>
              <a:tr h="213335">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Main Success Scenario</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gn="ctr">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B2D8E"/>
                    </a:solidFill>
                  </a:tcPr>
                </a:tc>
                <a:extLst>
                  <a:ext uri="{0D108BD9-81ED-4DB2-BD59-A6C34878D82A}">
                    <a16:rowId xmlns:a16="http://schemas.microsoft.com/office/drawing/2014/main" val="77282432"/>
                  </a:ext>
                </a:extLst>
              </a:tr>
              <a:tr h="213335">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2000"/>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7833191"/>
                  </a:ext>
                </a:extLst>
              </a:tr>
              <a:tr h="229358">
                <a:tc>
                  <a:txBody>
                    <a:bodyPr/>
                    <a:lstStyle/>
                    <a:p>
                      <a:pPr marL="0" marR="0" algn="ctr">
                        <a:lnSpc>
                          <a:spcPct val="107000"/>
                        </a:lnSpc>
                        <a:spcAft>
                          <a:spcPts val="800"/>
                        </a:spcAft>
                        <a:buNone/>
                      </a:pPr>
                      <a:r>
                        <a:rPr lang="en-US" sz="12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Actor Action</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7000"/>
                        </a:lnSpc>
                        <a:spcAft>
                          <a:spcPts val="800"/>
                        </a:spcAft>
                        <a:buNone/>
                      </a:pPr>
                      <a:r>
                        <a:rPr lang="en-US" sz="1200" b="1"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System Response</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7581296"/>
                  </a:ext>
                </a:extLst>
              </a:tr>
              <a:tr h="213335">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1. Patient selects the Log Symptoms option.</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1614793"/>
                  </a:ext>
                </a:extLst>
              </a:tr>
              <a:tr h="213335">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2. System presents the symptom logging form.</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7704252"/>
                  </a:ext>
                </a:extLst>
              </a:tr>
              <a:tr h="213335">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3. Patient describes the symptom and selects its severity level.</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9521110"/>
                  </a:ext>
                </a:extLst>
              </a:tr>
              <a:tr h="213335">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4. Patient optionally adds notes or context about the symptom.</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4918034"/>
                  </a:ext>
                </a:extLst>
              </a:tr>
              <a:tr h="213335">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5. System validates and saves the symptom entry with a timestamp.</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8673998"/>
                  </a:ext>
                </a:extLst>
              </a:tr>
              <a:tr h="213335">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6. System confirms the log and updates the symptom history.</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1294533"/>
                  </a:ext>
                </a:extLst>
              </a:tr>
              <a:tr h="213335">
                <a:tc>
                  <a:txBody>
                    <a:bodyPr/>
                    <a:lstStyle/>
                    <a:p>
                      <a:pPr marL="0" marR="0">
                        <a:lnSpc>
                          <a:spcPct val="107000"/>
                        </a:lnSpc>
                        <a:spcAft>
                          <a:spcPts val="800"/>
                        </a:spcAft>
                        <a:buNone/>
                      </a:pPr>
                      <a:r>
                        <a:rPr lang="en-US" sz="11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cs typeface="Times New Roman" panose="02020603050405020304" pitchFamily="18" charset="0"/>
                        </a:rPr>
                        <a:t>7. System checks for recurring symptom patterns and notifies the patient if a trend is detected.</a:t>
                      </a:r>
                      <a:endParaRPr lang="en-US"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5049" marR="6504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380823"/>
                  </a:ext>
                </a:extLst>
              </a:tr>
              <a:tr h="451991">
                <a:tc>
                  <a:txBody>
                    <a:bodyPr/>
                    <a:lstStyle/>
                    <a:p>
                      <a:pPr marL="0" marR="0">
                        <a:lnSpc>
                          <a:spcPct val="107000"/>
                        </a:lnSpc>
                        <a:spcAft>
                          <a:spcPts val="800"/>
                        </a:spcAft>
                        <a:buNone/>
                      </a:pPr>
                      <a:r>
                        <a:rPr lang="en-US" sz="1000" b="1" kern="0">
                          <a:solidFill>
                            <a:srgbClr val="000000"/>
                          </a:solidFill>
                          <a:effectLst/>
                          <a:latin typeface="Times New Roman" panose="02020603050405020304" pitchFamily="18" charset="0"/>
                          <a:ea typeface="MS Mincho" panose="02020609040205080304" pitchFamily="49" charset="-128"/>
                        </a:rPr>
                        <a:t>Extensions</a:t>
                      </a:r>
                      <a:endParaRPr lang="en-US" sz="1100" kern="100">
                        <a:solidFill>
                          <a:srgbClr val="000000"/>
                        </a:solidFill>
                        <a:effectLst/>
                        <a:latin typeface="Calibri" panose="020F0502020204030204" pitchFamily="34" charset="0"/>
                        <a:ea typeface="Calibri" panose="020F0502020204030204" pitchFamily="34" charset="0"/>
                      </a:endParaRPr>
                    </a:p>
                  </a:txBody>
                  <a:tcPr marL="65049" marR="65049" marT="43366" marB="4336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D5F5"/>
                    </a:solidFill>
                  </a:tcPr>
                </a:tc>
                <a:tc>
                  <a:txBody>
                    <a:bodyPr/>
                    <a:lstStyle/>
                    <a:p>
                      <a:pPr marL="0" marR="0">
                        <a:lnSpc>
                          <a:spcPct val="107000"/>
                        </a:lnSpc>
                        <a:spcAft>
                          <a:spcPts val="800"/>
                        </a:spcAft>
                        <a:buNone/>
                      </a:pPr>
                      <a:r>
                        <a:rPr lang="en-US" sz="1000" kern="0">
                          <a:solidFill>
                            <a:srgbClr val="000000"/>
                          </a:solidFill>
                          <a:effectLst/>
                          <a:latin typeface="Times New Roman" panose="02020603050405020304" pitchFamily="18" charset="0"/>
                          <a:ea typeface="MS Mincho" panose="02020609040205080304" pitchFamily="49" charset="-128"/>
                        </a:rPr>
                        <a:t>3a. Patient cannot find the symptom in the list: Patient manually types the symptom name.</a:t>
                      </a:r>
                      <a:br>
                        <a:rPr lang="en-US" sz="1000" kern="0">
                          <a:solidFill>
                            <a:srgbClr val="000000"/>
                          </a:solidFill>
                          <a:effectLst/>
                          <a:latin typeface="Times New Roman" panose="02020603050405020304" pitchFamily="18" charset="0"/>
                          <a:ea typeface="MS Mincho" panose="02020609040205080304" pitchFamily="49" charset="-128"/>
                        </a:rPr>
                      </a:br>
                      <a:r>
                        <a:rPr lang="en-US" sz="1000" kern="0">
                          <a:solidFill>
                            <a:srgbClr val="000000"/>
                          </a:solidFill>
                          <a:effectLst/>
                          <a:latin typeface="Times New Roman" panose="02020603050405020304" pitchFamily="18" charset="0"/>
                          <a:ea typeface="MS Mincho" panose="02020609040205080304" pitchFamily="49" charset="-128"/>
                        </a:rPr>
                        <a:t>7a. Recurring pattern detected: System advises the patient to consult a healthcare professional.</a:t>
                      </a:r>
                      <a:endParaRPr lang="en-US" sz="1100" kern="100">
                        <a:solidFill>
                          <a:srgbClr val="000000"/>
                        </a:solidFill>
                        <a:effectLst/>
                        <a:latin typeface="Calibri" panose="020F0502020204030204" pitchFamily="34" charset="0"/>
                        <a:ea typeface="Calibri" panose="020F0502020204030204" pitchFamily="34" charset="0"/>
                      </a:endParaRPr>
                    </a:p>
                  </a:txBody>
                  <a:tcPr marL="65049" marR="65049" marT="43366" marB="43366">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38042"/>
                  </a:ext>
                </a:extLst>
              </a:tr>
            </a:tbl>
          </a:graphicData>
        </a:graphic>
      </p:graphicFrame>
    </p:spTree>
    <p:extLst>
      <p:ext uri="{BB962C8B-B14F-4D97-AF65-F5344CB8AC3E}">
        <p14:creationId xmlns:p14="http://schemas.microsoft.com/office/powerpoint/2010/main" val="2765174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lowchart: Document 13">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185F1D-59A5-2D90-8F3C-335B997C8A96}"/>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SSD Example: Log Symptoms</a:t>
            </a:r>
          </a:p>
        </p:txBody>
      </p:sp>
      <p:pic>
        <p:nvPicPr>
          <p:cNvPr id="7" name="Content Placeholder 6">
            <a:extLst>
              <a:ext uri="{FF2B5EF4-FFF2-40B4-BE49-F238E27FC236}">
                <a16:creationId xmlns:a16="http://schemas.microsoft.com/office/drawing/2014/main" id="{5B73DF3D-E327-592A-18E2-3B3C61A43A35}"/>
              </a:ext>
            </a:extLst>
          </p:cNvPr>
          <p:cNvPicPr>
            <a:picLocks noGrp="1" noChangeAspect="1"/>
          </p:cNvPicPr>
          <p:nvPr>
            <p:ph idx="1"/>
          </p:nvPr>
        </p:nvPicPr>
        <p:blipFill>
          <a:blip r:embed="rId2"/>
          <a:stretch>
            <a:fillRect/>
          </a:stretch>
        </p:blipFill>
        <p:spPr>
          <a:xfrm>
            <a:off x="4682509" y="640080"/>
            <a:ext cx="6398384" cy="5578816"/>
          </a:xfrm>
          <a:prstGeom prst="rect">
            <a:avLst/>
          </a:prstGeom>
        </p:spPr>
      </p:pic>
    </p:spTree>
    <p:extLst>
      <p:ext uri="{BB962C8B-B14F-4D97-AF65-F5344CB8AC3E}">
        <p14:creationId xmlns:p14="http://schemas.microsoft.com/office/powerpoint/2010/main" val="1885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EE32-ACB4-3AC3-7B13-26CDEEAFD69A}"/>
              </a:ext>
            </a:extLst>
          </p:cNvPr>
          <p:cNvSpPr>
            <a:spLocks noGrp="1"/>
          </p:cNvSpPr>
          <p:nvPr>
            <p:ph type="title"/>
          </p:nvPr>
        </p:nvSpPr>
        <p:spPr>
          <a:xfrm>
            <a:off x="838200" y="132506"/>
            <a:ext cx="10515600" cy="942037"/>
          </a:xfrm>
        </p:spPr>
        <p:txBody>
          <a:bodyPr vert="horz" lIns="91440" tIns="45720" rIns="91440" bIns="45720" rtlCol="0" anchor="ctr">
            <a:normAutofit/>
          </a:bodyPr>
          <a:lstStyle/>
          <a:p>
            <a:pPr algn="ctr"/>
            <a:r>
              <a:rPr lang="en-US" dirty="0">
                <a:latin typeface="Arial Rounded MT Bold" panose="020F0704030504030204" pitchFamily="34" charset="0"/>
              </a:rPr>
              <a:t>SD Example: Log Symptoms</a:t>
            </a:r>
          </a:p>
        </p:txBody>
      </p:sp>
      <p:pic>
        <p:nvPicPr>
          <p:cNvPr id="5" name="Content Placeholder 4">
            <a:extLst>
              <a:ext uri="{FF2B5EF4-FFF2-40B4-BE49-F238E27FC236}">
                <a16:creationId xmlns:a16="http://schemas.microsoft.com/office/drawing/2014/main" id="{F801430F-9D08-5560-BECF-20706239CE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2145" y="933509"/>
            <a:ext cx="7427709" cy="5670259"/>
          </a:xfrm>
          <a:prstGeom prst="rect">
            <a:avLst/>
          </a:prstGeom>
        </p:spPr>
      </p:pic>
    </p:spTree>
    <p:extLst>
      <p:ext uri="{BB962C8B-B14F-4D97-AF65-F5344CB8AC3E}">
        <p14:creationId xmlns:p14="http://schemas.microsoft.com/office/powerpoint/2010/main" val="144274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0CF7C-F9D3-2008-CD1A-980FCF98D445}"/>
              </a:ext>
            </a:extLst>
          </p:cNvPr>
          <p:cNvSpPr>
            <a:spLocks noGrp="1"/>
          </p:cNvSpPr>
          <p:nvPr>
            <p:ph type="title"/>
          </p:nvPr>
        </p:nvSpPr>
        <p:spPr/>
        <p:txBody>
          <a:bodyPr vert="horz" lIns="91440" tIns="45720" rIns="91440" bIns="45720" rtlCol="0" anchor="ctr">
            <a:normAutofit/>
          </a:bodyPr>
          <a:lstStyle/>
          <a:p>
            <a:pPr algn="ctr"/>
            <a:r>
              <a:rPr lang="en-US" dirty="0">
                <a:latin typeface="Arial Rounded MT Bold" panose="020F0704030504030204" pitchFamily="34" charset="0"/>
              </a:rPr>
              <a:t>Class Diagram</a:t>
            </a:r>
          </a:p>
        </p:txBody>
      </p:sp>
      <p:pic>
        <p:nvPicPr>
          <p:cNvPr id="4" name="Content Placeholder 3">
            <a:extLst>
              <a:ext uri="{FF2B5EF4-FFF2-40B4-BE49-F238E27FC236}">
                <a16:creationId xmlns:a16="http://schemas.microsoft.com/office/drawing/2014/main" id="{2EC860E7-6A2B-A4CC-CA44-8A88FDA111F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261191"/>
            <a:ext cx="10515600" cy="3480205"/>
          </a:xfrm>
          <a:prstGeom prst="rect">
            <a:avLst/>
          </a:prstGeom>
          <a:noFill/>
          <a:ln>
            <a:noFill/>
          </a:ln>
        </p:spPr>
      </p:pic>
    </p:spTree>
    <p:extLst>
      <p:ext uri="{BB962C8B-B14F-4D97-AF65-F5344CB8AC3E}">
        <p14:creationId xmlns:p14="http://schemas.microsoft.com/office/powerpoint/2010/main" val="376549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865</Words>
  <Application>Microsoft Office PowerPoint</Application>
  <PresentationFormat>Widescreen</PresentationFormat>
  <Paragraphs>99</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Agency FB</vt:lpstr>
      <vt:lpstr>Arial</vt:lpstr>
      <vt:lpstr>Arial Rounded MT Bold</vt:lpstr>
      <vt:lpstr>Calibri</vt:lpstr>
      <vt:lpstr>Calibri Light</vt:lpstr>
      <vt:lpstr>Georgia</vt:lpstr>
      <vt:lpstr>Times New Roman</vt:lpstr>
      <vt:lpstr>Office Theme</vt:lpstr>
      <vt:lpstr>Synapse</vt:lpstr>
      <vt:lpstr>The Fragmentation of Personal Health</vt:lpstr>
      <vt:lpstr>Synapse System</vt:lpstr>
      <vt:lpstr>Core Functionalities</vt:lpstr>
      <vt:lpstr>List of Use Cases</vt:lpstr>
      <vt:lpstr>OOP Principles</vt:lpstr>
      <vt:lpstr>Design Patterns: GRASP</vt:lpstr>
      <vt:lpstr>Design Patterns: GOF</vt:lpstr>
      <vt:lpstr>Use Case Diagram</vt:lpstr>
      <vt:lpstr>Extended Use Case Example: Log Symptoms</vt:lpstr>
      <vt:lpstr>SSD Example: Log Symptoms</vt:lpstr>
      <vt:lpstr>SD Example: Log Symptoms</vt:lpstr>
      <vt:lpstr>Class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Haider Ramzan</dc:creator>
  <cp:lastModifiedBy>Haider Ramzan</cp:lastModifiedBy>
  <cp:revision>22</cp:revision>
  <dcterms:created xsi:type="dcterms:W3CDTF">2026-05-06T16:27:15Z</dcterms:created>
  <dcterms:modified xsi:type="dcterms:W3CDTF">2026-05-07T04:44:50Z</dcterms:modified>
</cp:coreProperties>
</file>